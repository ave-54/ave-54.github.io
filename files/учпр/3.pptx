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2" r:id="rId4"/>
  </p:sldMasterIdLst>
  <p:notesMasterIdLst>
    <p:notesMasterId r:id="rId21"/>
  </p:notesMasterIdLst>
  <p:handoutMasterIdLst>
    <p:handoutMasterId r:id="rId22"/>
  </p:handoutMasterIdLst>
  <p:sldIdLst>
    <p:sldId id="274" r:id="rId5"/>
    <p:sldId id="338" r:id="rId6"/>
    <p:sldId id="341" r:id="rId7"/>
    <p:sldId id="339" r:id="rId8"/>
    <p:sldId id="342" r:id="rId9"/>
    <p:sldId id="306" r:id="rId10"/>
    <p:sldId id="343" r:id="rId11"/>
    <p:sldId id="344" r:id="rId12"/>
    <p:sldId id="345" r:id="rId13"/>
    <p:sldId id="346" r:id="rId14"/>
    <p:sldId id="347" r:id="rId15"/>
    <p:sldId id="348" r:id="rId16"/>
    <p:sldId id="349" r:id="rId17"/>
    <p:sldId id="350" r:id="rId18"/>
    <p:sldId id="351" r:id="rId19"/>
    <p:sldId id="353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53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eyger Sergey" initials="NS" lastIdx="21" clrIdx="0">
    <p:extLst/>
  </p:cmAuthor>
  <p:cmAuthor id="2" name="juket" initials="j" lastIdx="1" clrIdx="1">
    <p:extLst/>
  </p:cmAuthor>
  <p:cmAuthor id="3" name="Vasilyev Aleksey" initials="VA" lastIdx="1" clrIdx="2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2024"/>
    <a:srgbClr val="036BB3"/>
    <a:srgbClr val="878D91"/>
    <a:srgbClr val="B2B2B2"/>
    <a:srgbClr val="65AEE8"/>
    <a:srgbClr val="6EB4BE"/>
    <a:srgbClr val="A4AAB2"/>
    <a:srgbClr val="D34537"/>
    <a:srgbClr val="1448DC"/>
    <a:srgbClr val="F18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1047" autoAdjust="0"/>
  </p:normalViewPr>
  <p:slideViewPr>
    <p:cSldViewPr snapToObjects="1">
      <p:cViewPr varScale="1">
        <p:scale>
          <a:sx n="105" d="100"/>
          <a:sy n="105" d="100"/>
        </p:scale>
        <p:origin x="834" y="102"/>
      </p:cViewPr>
      <p:guideLst>
        <p:guide orient="horz" pos="1253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132" d="100"/>
          <a:sy n="132" d="100"/>
        </p:scale>
        <p:origin x="496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Направления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CD8-4CA4-9967-9A6031F25B4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CD8-4CA4-9967-9A6031F25B4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CD8-4CA4-9967-9A6031F25B4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CD8-4CA4-9967-9A6031F25B44}"/>
              </c:ext>
            </c:extLst>
          </c:dPt>
          <c:cat>
            <c:numRef>
              <c:f>Лист1!$A$2:$A$5</c:f>
              <c:numCache>
                <c:formatCode>General</c:formatCode>
                <c:ptCount val="4"/>
              </c:numCache>
            </c:num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327</c:v>
                </c:pt>
                <c:pt idx="1">
                  <c:v>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54-4AB9-8DA2-139029BD77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Направления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7A2-476A-B27E-1A420C02251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7A2-476A-B27E-1A420C02251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7A2-476A-B27E-1A420C02251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7A2-476A-B27E-1A420C022513}"/>
              </c:ext>
            </c:extLst>
          </c:dPt>
          <c:cat>
            <c:numRef>
              <c:f>Лист1!$A$2:$A$5</c:f>
              <c:numCache>
                <c:formatCode>General</c:formatCode>
                <c:ptCount val="4"/>
              </c:numCache>
            </c:num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3384</c:v>
                </c:pt>
                <c:pt idx="1">
                  <c:v>403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7A2-476A-B27E-1A420C0225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25E0C6-1B86-B949-87E4-0A50DF1603E1}" type="datetimeFigureOut">
              <a:rPr lang="ru-RU" smtClean="0"/>
              <a:t>20.11.2023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14CC2A-9F75-AF46-8418-16D625F9E7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864471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949138-EEC2-6C4E-A0F2-093716CB2314}" type="datetimeFigureOut">
              <a:rPr lang="ru-RU" smtClean="0"/>
              <a:t>20.11.2023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50CBA3-C491-6143-95F0-2BF376F37E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457268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50CBA3-C491-6143-95F0-2BF376F37EEA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7131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50CBA3-C491-6143-95F0-2BF376F37EEA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72573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50CBA3-C491-6143-95F0-2BF376F37EEA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12852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50CBA3-C491-6143-95F0-2BF376F37EEA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50562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50CBA3-C491-6143-95F0-2BF376F37EEA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5917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50CBA3-C491-6143-95F0-2BF376F37EEA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82185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50CBA3-C491-6143-95F0-2BF376F37EEA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47429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50CBA3-C491-6143-95F0-2BF376F37EEA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42689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50CBA3-C491-6143-95F0-2BF376F37EEA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77802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50CBA3-C491-6143-95F0-2BF376F37EEA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7953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0"/>
            <a:ext cx="121888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63992" y="103497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6763" y="473164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none" spc="200" baseline="0">
                <a:solidFill>
                  <a:srgbClr val="F18500"/>
                </a:solidFill>
                <a:latin typeface="Ubuntu" charset="0"/>
                <a:ea typeface="Ubuntu" charset="0"/>
                <a:cs typeface="Ubuntu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74127" y="6466189"/>
            <a:ext cx="2472271" cy="365125"/>
          </a:xfrm>
        </p:spPr>
        <p:txBody>
          <a:bodyPr/>
          <a:lstStyle/>
          <a:p>
            <a:fld id="{CAD16BB8-847C-1B4E-9636-D2210D9A0337}" type="datetime1">
              <a:rPr lang="ru-RU" smtClean="0"/>
              <a:t>20.11.2023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Перспективный мониторинг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77819" y="6459785"/>
            <a:ext cx="1312025" cy="365125"/>
          </a:xfrm>
        </p:spPr>
        <p:txBody>
          <a:bodyPr/>
          <a:lstStyle/>
          <a:p>
            <a:fld id="{9A5EF97D-348D-BF42-95F2-D72FFD6E341D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83409" y="765175"/>
            <a:ext cx="1322779" cy="1295673"/>
          </a:xfrm>
          <a:prstGeom prst="rect">
            <a:avLst/>
          </a:prstGeom>
        </p:spPr>
      </p:pic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7185" userDrawn="1">
          <p15:clr>
            <a:srgbClr val="FBAE40"/>
          </p15:clr>
        </p15:guide>
        <p15:guide id="3" pos="483" userDrawn="1">
          <p15:clr>
            <a:srgbClr val="FBAE40"/>
          </p15:clr>
        </p15:guide>
        <p15:guide id="4" orient="horz" pos="350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581" y="1118834"/>
            <a:ext cx="10641011" cy="3584699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Ubuntu" charset="0"/>
                <a:ea typeface="Ubuntu" charset="0"/>
                <a:cs typeface="Ubuntu" charset="0"/>
              </a:defRPr>
            </a:lvl1pPr>
            <a:lvl2pPr marL="384048" indent="-182880">
              <a:buFont typeface="Arial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Ubuntu" charset="0"/>
                <a:ea typeface="Ubuntu" charset="0"/>
                <a:cs typeface="Ubuntu" charset="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Ubuntu" charset="0"/>
                <a:ea typeface="Ubuntu" charset="0"/>
                <a:cs typeface="Ubuntu" charset="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Ubuntu" charset="0"/>
                <a:ea typeface="Ubuntu" charset="0"/>
                <a:cs typeface="Ubuntu" charset="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Ubuntu" charset="0"/>
                <a:ea typeface="Ubuntu" charset="0"/>
                <a:cs typeface="Ubuntu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19" name="Дата 18"/>
          <p:cNvSpPr>
            <a:spLocks noGrp="1"/>
          </p:cNvSpPr>
          <p:nvPr>
            <p:ph type="dt" sz="half" idx="10"/>
          </p:nvPr>
        </p:nvSpPr>
        <p:spPr>
          <a:xfrm>
            <a:off x="766763" y="6459785"/>
            <a:ext cx="2472271" cy="365125"/>
          </a:xfrm>
        </p:spPr>
        <p:txBody>
          <a:bodyPr/>
          <a:lstStyle/>
          <a:p>
            <a:fld id="{B0B2218E-4812-B142-AEBD-DA9658E7BE2C}" type="datetime1">
              <a:rPr lang="ru-RU" smtClean="0"/>
              <a:t>20.11.2023</a:t>
            </a:fld>
            <a:endParaRPr lang="ru-RU" dirty="0"/>
          </a:p>
        </p:txBody>
      </p:sp>
      <p:sp>
        <p:nvSpPr>
          <p:cNvPr id="20" name="Нижний колонтитул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Перспективный мониторинг</a:t>
            </a:r>
            <a:endParaRPr lang="ru-RU" dirty="0"/>
          </a:p>
        </p:txBody>
      </p:sp>
      <p:sp>
        <p:nvSpPr>
          <p:cNvPr id="21" name="Номер слайда 20"/>
          <p:cNvSpPr>
            <a:spLocks noGrp="1"/>
          </p:cNvSpPr>
          <p:nvPr>
            <p:ph type="sldNum" sz="quarter" idx="12"/>
          </p:nvPr>
        </p:nvSpPr>
        <p:spPr>
          <a:xfrm>
            <a:off x="10087436" y="6459785"/>
            <a:ext cx="1312025" cy="365125"/>
          </a:xfrm>
        </p:spPr>
        <p:txBody>
          <a:bodyPr/>
          <a:lstStyle/>
          <a:p>
            <a:fld id="{9A5EF97D-348D-BF42-95F2-D72FFD6E341D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20475" y="404664"/>
            <a:ext cx="470536" cy="36051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766763" y="274521"/>
            <a:ext cx="9937749" cy="844313"/>
          </a:xfrm>
          <a:effectLst/>
        </p:spPr>
        <p:txBody>
          <a:bodyPr lIns="0" tIns="0" rIns="0" bIns="0" anchor="t" anchorCtr="0">
            <a:normAutofit/>
          </a:bodyPr>
          <a:lstStyle>
            <a:lvl1pPr marL="0">
              <a:defRPr sz="4400">
                <a:solidFill>
                  <a:schemeClr val="tx1">
                    <a:lumMod val="75000"/>
                    <a:lumOff val="25000"/>
                  </a:schemeClr>
                </a:solidFill>
                <a:effectLst/>
              </a:defRPr>
            </a:lvl1pPr>
          </a:lstStyle>
          <a:p>
            <a:r>
              <a:rPr lang="ru-RU" dirty="0"/>
              <a:t>Образец </a:t>
            </a:r>
            <a:endParaRPr lang="en-US" dirty="0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498" userDrawn="1">
          <p15:clr>
            <a:srgbClr val="FBAE40"/>
          </p15:clr>
        </p15:guide>
        <p15:guide id="2" pos="483" userDrawn="1">
          <p15:clr>
            <a:srgbClr val="FBAE40"/>
          </p15:clr>
        </p15:guide>
        <p15:guide id="3" orient="horz" pos="482" userDrawn="1">
          <p15:clr>
            <a:srgbClr val="FBAE40"/>
          </p15:clr>
        </p15:guide>
        <p15:guide id="4" pos="718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66763" y="274521"/>
            <a:ext cx="9937749" cy="844313"/>
          </a:xfrm>
          <a:effectLst/>
        </p:spPr>
        <p:txBody>
          <a:bodyPr lIns="0" tIns="0" rIns="0" bIns="0" anchor="t" anchorCtr="0">
            <a:normAutofit/>
          </a:bodyPr>
          <a:lstStyle>
            <a:lvl1pPr marL="0">
              <a:defRPr sz="4400">
                <a:solidFill>
                  <a:schemeClr val="tx1">
                    <a:lumMod val="75000"/>
                    <a:lumOff val="25000"/>
                  </a:schemeClr>
                </a:solidFill>
                <a:effectLst/>
              </a:defRPr>
            </a:lvl1pPr>
          </a:lstStyle>
          <a:p>
            <a:r>
              <a:rPr lang="ru-RU" dirty="0"/>
              <a:t>Образец </a:t>
            </a:r>
            <a:endParaRPr lang="en-US" dirty="0"/>
          </a:p>
        </p:txBody>
      </p:sp>
      <p:sp>
        <p:nvSpPr>
          <p:cNvPr id="19" name="Дата 18"/>
          <p:cNvSpPr>
            <a:spLocks noGrp="1"/>
          </p:cNvSpPr>
          <p:nvPr>
            <p:ph type="dt" sz="half" idx="10"/>
          </p:nvPr>
        </p:nvSpPr>
        <p:spPr>
          <a:xfrm>
            <a:off x="766763" y="6459785"/>
            <a:ext cx="2472271" cy="365125"/>
          </a:xfrm>
        </p:spPr>
        <p:txBody>
          <a:bodyPr/>
          <a:lstStyle/>
          <a:p>
            <a:fld id="{B0B2218E-4812-B142-AEBD-DA9658E7BE2C}" type="datetime1">
              <a:rPr lang="ru-RU" smtClean="0"/>
              <a:t>20.11.2023</a:t>
            </a:fld>
            <a:endParaRPr lang="ru-RU" dirty="0"/>
          </a:p>
        </p:txBody>
      </p:sp>
      <p:sp>
        <p:nvSpPr>
          <p:cNvPr id="20" name="Нижний колонтитул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Перспективный мониторинг</a:t>
            </a:r>
            <a:endParaRPr lang="ru-RU" dirty="0"/>
          </a:p>
        </p:txBody>
      </p:sp>
      <p:sp>
        <p:nvSpPr>
          <p:cNvPr id="21" name="Номер слайда 20"/>
          <p:cNvSpPr>
            <a:spLocks noGrp="1"/>
          </p:cNvSpPr>
          <p:nvPr>
            <p:ph type="sldNum" sz="quarter" idx="12"/>
          </p:nvPr>
        </p:nvSpPr>
        <p:spPr>
          <a:xfrm>
            <a:off x="10087436" y="6459785"/>
            <a:ext cx="1312025" cy="365125"/>
          </a:xfrm>
        </p:spPr>
        <p:txBody>
          <a:bodyPr/>
          <a:lstStyle/>
          <a:p>
            <a:fld id="{9A5EF97D-348D-BF42-95F2-D72FFD6E341D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20475" y="404664"/>
            <a:ext cx="470536" cy="360510"/>
          </a:xfrm>
          <a:prstGeom prst="rect">
            <a:avLst/>
          </a:prstGeom>
        </p:spPr>
      </p:pic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498">
          <p15:clr>
            <a:srgbClr val="FBAE40"/>
          </p15:clr>
        </p15:guide>
        <p15:guide id="2" pos="483">
          <p15:clr>
            <a:srgbClr val="FBAE40"/>
          </p15:clr>
        </p15:guide>
        <p15:guide id="3" orient="horz" pos="482">
          <p15:clr>
            <a:srgbClr val="FBAE40"/>
          </p15:clr>
        </p15:guide>
        <p15:guide id="4" pos="718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F18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763" y="758952"/>
            <a:ext cx="10641012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6763" y="4453128"/>
            <a:ext cx="10641012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none" spc="200" baseline="0">
                <a:solidFill>
                  <a:schemeClr val="tx2"/>
                </a:solidFill>
                <a:latin typeface="Ubuntu" charset="0"/>
                <a:ea typeface="Ubuntu" charset="0"/>
                <a:cs typeface="Ubuntu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766763" y="6459785"/>
            <a:ext cx="2472271" cy="365125"/>
          </a:xfrm>
        </p:spPr>
        <p:txBody>
          <a:bodyPr/>
          <a:lstStyle/>
          <a:p>
            <a:fld id="{1B62E2CD-415D-E34C-8553-483B6B5F1598}" type="datetime1">
              <a:rPr lang="ru-RU" smtClean="0"/>
              <a:t>20.11.2023</a:t>
            </a:fld>
            <a:endParaRPr lang="ru-RU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ru-RU" dirty="0"/>
              <a:t>Перспективный мониторинг</a:t>
            </a: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5749" y="6459785"/>
            <a:ext cx="1312025" cy="365125"/>
          </a:xfrm>
        </p:spPr>
        <p:txBody>
          <a:bodyPr/>
          <a:lstStyle/>
          <a:p>
            <a:fld id="{9A5EF97D-348D-BF42-95F2-D72FFD6E341D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20475" y="404664"/>
            <a:ext cx="470536" cy="360510"/>
          </a:xfrm>
          <a:prstGeom prst="rect">
            <a:avLst/>
          </a:prstGeom>
        </p:spPr>
      </p:pic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498" userDrawn="1">
          <p15:clr>
            <a:srgbClr val="FBAE40"/>
          </p15:clr>
        </p15:guide>
        <p15:guide id="2" pos="483" userDrawn="1">
          <p15:clr>
            <a:srgbClr val="FBAE40"/>
          </p15:clr>
        </p15:guide>
        <p15:guide id="3" orient="horz" pos="490" userDrawn="1">
          <p15:clr>
            <a:srgbClr val="FBAE40"/>
          </p15:clr>
        </p15:guide>
        <p15:guide id="4" pos="718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7408" y="1118833"/>
            <a:ext cx="5040560" cy="4023360"/>
          </a:xfrm>
        </p:spPr>
        <p:txBody>
          <a:bodyPr/>
          <a:lstStyle>
            <a:lvl1pPr>
              <a:defRPr>
                <a:latin typeface="Ubuntu" charset="0"/>
                <a:ea typeface="Ubuntu" charset="0"/>
                <a:cs typeface="Ubuntu" charset="0"/>
              </a:defRPr>
            </a:lvl1pPr>
            <a:lvl2pPr marL="384048" indent="-182880">
              <a:buFont typeface="Arial" charset="0"/>
              <a:buChar char="•"/>
              <a:defRPr>
                <a:latin typeface="Ubuntu" charset="0"/>
                <a:ea typeface="Ubuntu" charset="0"/>
                <a:cs typeface="Ubuntu" charset="0"/>
              </a:defRPr>
            </a:lvl2pPr>
            <a:lvl3pPr>
              <a:defRPr>
                <a:latin typeface="Ubuntu" charset="0"/>
                <a:ea typeface="Ubuntu" charset="0"/>
                <a:cs typeface="Ubuntu" charset="0"/>
              </a:defRPr>
            </a:lvl3pPr>
            <a:lvl4pPr>
              <a:defRPr>
                <a:latin typeface="Ubuntu" charset="0"/>
                <a:ea typeface="Ubuntu" charset="0"/>
                <a:cs typeface="Ubuntu" charset="0"/>
              </a:defRPr>
            </a:lvl4pPr>
            <a:lvl5pPr>
              <a:defRPr>
                <a:latin typeface="Ubuntu" charset="0"/>
                <a:ea typeface="Ubuntu" charset="0"/>
                <a:cs typeface="Ubuntu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19" y="1118834"/>
            <a:ext cx="5170805" cy="4023360"/>
          </a:xfrm>
        </p:spPr>
        <p:txBody>
          <a:bodyPr/>
          <a:lstStyle>
            <a:lvl1pPr>
              <a:defRPr>
                <a:latin typeface="Ubuntu" charset="0"/>
                <a:ea typeface="Ubuntu" charset="0"/>
                <a:cs typeface="Ubuntu" charset="0"/>
              </a:defRPr>
            </a:lvl1pPr>
            <a:lvl2pPr marL="384048" indent="-182880">
              <a:buFont typeface="Arial" charset="0"/>
              <a:buChar char="•"/>
              <a:defRPr>
                <a:latin typeface="Ubuntu" charset="0"/>
                <a:ea typeface="Ubuntu" charset="0"/>
                <a:cs typeface="Ubuntu" charset="0"/>
              </a:defRPr>
            </a:lvl2pPr>
            <a:lvl3pPr>
              <a:defRPr>
                <a:latin typeface="Ubuntu" charset="0"/>
                <a:ea typeface="Ubuntu" charset="0"/>
                <a:cs typeface="Ubuntu" charset="0"/>
              </a:defRPr>
            </a:lvl3pPr>
            <a:lvl4pPr>
              <a:defRPr>
                <a:latin typeface="Ubuntu" charset="0"/>
                <a:ea typeface="Ubuntu" charset="0"/>
                <a:cs typeface="Ubuntu" charset="0"/>
              </a:defRPr>
            </a:lvl4pPr>
            <a:lvl5pPr>
              <a:defRPr>
                <a:latin typeface="Ubuntu" charset="0"/>
                <a:ea typeface="Ubuntu" charset="0"/>
                <a:cs typeface="Ubuntu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10"/>
          </p:nvPr>
        </p:nvSpPr>
        <p:spPr>
          <a:xfrm>
            <a:off x="766763" y="6459785"/>
            <a:ext cx="2472271" cy="365125"/>
          </a:xfrm>
        </p:spPr>
        <p:txBody>
          <a:bodyPr/>
          <a:lstStyle/>
          <a:p>
            <a:fld id="{D58486F6-58BE-F74A-A088-DC44BB4C3CBF}" type="datetime1">
              <a:rPr lang="ru-RU" smtClean="0"/>
              <a:t>20.11.2023</a:t>
            </a:fld>
            <a:endParaRPr lang="ru-RU" dirty="0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ru-RU" dirty="0"/>
              <a:t>Перспективный мониторинг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5749" y="6459785"/>
            <a:ext cx="1312025" cy="365125"/>
          </a:xfrm>
        </p:spPr>
        <p:txBody>
          <a:bodyPr/>
          <a:lstStyle/>
          <a:p>
            <a:fld id="{9A5EF97D-348D-BF42-95F2-D72FFD6E341D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66763" y="274521"/>
            <a:ext cx="9937749" cy="844313"/>
          </a:xfrm>
          <a:effectLst/>
        </p:spPr>
        <p:txBody>
          <a:bodyPr lIns="0" tIns="0" rIns="0" bIns="0" anchor="t" anchorCtr="0">
            <a:normAutofit/>
          </a:bodyPr>
          <a:lstStyle>
            <a:lvl1pPr marL="0">
              <a:defRPr sz="4400">
                <a:solidFill>
                  <a:schemeClr val="tx1">
                    <a:lumMod val="75000"/>
                    <a:lumOff val="25000"/>
                  </a:schemeClr>
                </a:solidFill>
                <a:effectLst/>
              </a:defRPr>
            </a:lvl1pPr>
          </a:lstStyle>
          <a:p>
            <a:r>
              <a:rPr lang="ru-RU" dirty="0"/>
              <a:t>Образец </a:t>
            </a:r>
            <a:endParaRPr lang="en-US" dirty="0"/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20475" y="404664"/>
            <a:ext cx="470536" cy="360510"/>
          </a:xfrm>
          <a:prstGeom prst="rect">
            <a:avLst/>
          </a:prstGeom>
        </p:spPr>
      </p:pic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498" userDrawn="1">
          <p15:clr>
            <a:srgbClr val="FBAE40"/>
          </p15:clr>
        </p15:guide>
        <p15:guide id="2" pos="7174" userDrawn="1">
          <p15:clr>
            <a:srgbClr val="FBAE40"/>
          </p15:clr>
        </p15:guide>
        <p15:guide id="3" pos="482" userDrawn="1">
          <p15:clr>
            <a:srgbClr val="FBAE40"/>
          </p15:clr>
        </p15:guide>
        <p15:guide id="4" orient="horz" pos="49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6763" y="1118834"/>
            <a:ext cx="5041206" cy="736282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  <a:latin typeface="Ubuntu" charset="0"/>
                <a:ea typeface="Ubuntu" charset="0"/>
                <a:cs typeface="Ubuntu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5147" y="1855116"/>
            <a:ext cx="5032821" cy="3378200"/>
          </a:xfrm>
        </p:spPr>
        <p:txBody>
          <a:bodyPr tIns="0" bIns="0"/>
          <a:lstStyle>
            <a:lvl1pPr>
              <a:defRPr>
                <a:latin typeface="Ubuntu" charset="0"/>
                <a:ea typeface="Ubuntu" charset="0"/>
                <a:cs typeface="Ubuntu" charset="0"/>
              </a:defRPr>
            </a:lvl1pPr>
            <a:lvl2pPr marL="384048" indent="-182880">
              <a:buFont typeface="Arial" charset="0"/>
              <a:buChar char="•"/>
              <a:defRPr>
                <a:latin typeface="Ubuntu" charset="0"/>
                <a:ea typeface="Ubuntu" charset="0"/>
                <a:cs typeface="Ubuntu" charset="0"/>
              </a:defRPr>
            </a:lvl2pPr>
            <a:lvl3pPr>
              <a:defRPr>
                <a:latin typeface="Ubuntu" charset="0"/>
                <a:ea typeface="Ubuntu" charset="0"/>
                <a:cs typeface="Ubuntu" charset="0"/>
              </a:defRPr>
            </a:lvl3pPr>
            <a:lvl4pPr>
              <a:defRPr>
                <a:latin typeface="Ubuntu" charset="0"/>
                <a:ea typeface="Ubuntu" charset="0"/>
                <a:cs typeface="Ubuntu" charset="0"/>
              </a:defRPr>
            </a:lvl4pPr>
            <a:lvl5pPr>
              <a:defRPr>
                <a:latin typeface="Ubuntu" charset="0"/>
                <a:ea typeface="Ubuntu" charset="0"/>
                <a:cs typeface="Ubuntu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19" y="1118834"/>
            <a:ext cx="5202555" cy="736282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  <a:latin typeface="Ubuntu" charset="0"/>
                <a:ea typeface="Ubuntu" charset="0"/>
                <a:cs typeface="Ubuntu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19" y="1855116"/>
            <a:ext cx="5202555" cy="3378200"/>
          </a:xfrm>
        </p:spPr>
        <p:txBody>
          <a:bodyPr/>
          <a:lstStyle>
            <a:lvl1pPr>
              <a:defRPr>
                <a:latin typeface="Ubuntu" charset="0"/>
                <a:ea typeface="Ubuntu" charset="0"/>
                <a:cs typeface="Ubuntu" charset="0"/>
              </a:defRPr>
            </a:lvl1pPr>
            <a:lvl2pPr marL="384048" indent="-182880">
              <a:buFont typeface="Arial" charset="0"/>
              <a:buChar char="•"/>
              <a:defRPr>
                <a:latin typeface="Ubuntu" charset="0"/>
                <a:ea typeface="Ubuntu" charset="0"/>
                <a:cs typeface="Ubuntu" charset="0"/>
              </a:defRPr>
            </a:lvl2pPr>
            <a:lvl3pPr>
              <a:defRPr>
                <a:latin typeface="Ubuntu" charset="0"/>
                <a:ea typeface="Ubuntu" charset="0"/>
                <a:cs typeface="Ubuntu" charset="0"/>
              </a:defRPr>
            </a:lvl3pPr>
            <a:lvl4pPr>
              <a:defRPr>
                <a:latin typeface="Ubuntu" charset="0"/>
                <a:ea typeface="Ubuntu" charset="0"/>
                <a:cs typeface="Ubuntu" charset="0"/>
              </a:defRPr>
            </a:lvl4pPr>
            <a:lvl5pPr>
              <a:defRPr>
                <a:latin typeface="Ubuntu" charset="0"/>
                <a:ea typeface="Ubuntu" charset="0"/>
                <a:cs typeface="Ubuntu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10"/>
          </p:nvPr>
        </p:nvSpPr>
        <p:spPr>
          <a:xfrm>
            <a:off x="766763" y="6459785"/>
            <a:ext cx="2472271" cy="365125"/>
          </a:xfrm>
        </p:spPr>
        <p:txBody>
          <a:bodyPr/>
          <a:lstStyle/>
          <a:p>
            <a:fld id="{D3B96413-96CC-F240-A2F1-F3629B790B36}" type="datetime1">
              <a:rPr lang="ru-RU" smtClean="0"/>
              <a:t>20.11.2023</a:t>
            </a:fld>
            <a:endParaRPr lang="ru-RU" dirty="0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ru-RU" dirty="0"/>
              <a:t>Перспективный мониторинг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5749" y="6459785"/>
            <a:ext cx="1312025" cy="365125"/>
          </a:xfrm>
        </p:spPr>
        <p:txBody>
          <a:bodyPr/>
          <a:lstStyle/>
          <a:p>
            <a:fld id="{9A5EF97D-348D-BF42-95F2-D72FFD6E341D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20475" y="404664"/>
            <a:ext cx="470536" cy="360510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766763" y="274521"/>
            <a:ext cx="9937749" cy="844313"/>
          </a:xfrm>
          <a:effectLst/>
        </p:spPr>
        <p:txBody>
          <a:bodyPr lIns="0" tIns="0" rIns="0" bIns="0" anchor="t" anchorCtr="0">
            <a:normAutofit/>
          </a:bodyPr>
          <a:lstStyle>
            <a:lvl1pPr marL="0">
              <a:defRPr sz="4400">
                <a:solidFill>
                  <a:schemeClr val="tx1">
                    <a:lumMod val="75000"/>
                    <a:lumOff val="25000"/>
                  </a:schemeClr>
                </a:solidFill>
                <a:effectLst/>
              </a:defRPr>
            </a:lvl1pPr>
          </a:lstStyle>
          <a:p>
            <a:r>
              <a:rPr lang="ru-RU" dirty="0"/>
              <a:t>Образец </a:t>
            </a:r>
            <a:endParaRPr lang="en-US" dirty="0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483" userDrawn="1">
          <p15:clr>
            <a:srgbClr val="FBAE40"/>
          </p15:clr>
        </p15:guide>
        <p15:guide id="3" pos="7194" userDrawn="1">
          <p15:clr>
            <a:srgbClr val="FBAE40"/>
          </p15:clr>
        </p15:guide>
        <p15:guide id="4" orient="horz" pos="350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766763" y="6459785"/>
            <a:ext cx="2472271" cy="365125"/>
          </a:xfrm>
        </p:spPr>
        <p:txBody>
          <a:bodyPr/>
          <a:lstStyle/>
          <a:p>
            <a:fld id="{67142207-6ED5-9C4F-AB8D-A37283E9469C}" type="datetime1">
              <a:rPr lang="ru-RU" smtClean="0"/>
              <a:t>20.11.2023</a:t>
            </a:fld>
            <a:endParaRPr lang="ru-RU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ru-RU" dirty="0"/>
              <a:t>Перспективный мониторинг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5749" y="6459785"/>
            <a:ext cx="1312025" cy="365125"/>
          </a:xfrm>
        </p:spPr>
        <p:txBody>
          <a:bodyPr/>
          <a:lstStyle/>
          <a:p>
            <a:fld id="{9A5EF97D-348D-BF42-95F2-D72FFD6E341D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766763" y="274521"/>
            <a:ext cx="9937749" cy="844313"/>
          </a:xfrm>
          <a:effectLst/>
        </p:spPr>
        <p:txBody>
          <a:bodyPr lIns="0" tIns="0" rIns="0" bIns="0" anchor="t" anchorCtr="0">
            <a:normAutofit/>
          </a:bodyPr>
          <a:lstStyle>
            <a:lvl1pPr marL="0">
              <a:defRPr sz="4400">
                <a:solidFill>
                  <a:schemeClr val="tx1">
                    <a:lumMod val="75000"/>
                    <a:lumOff val="25000"/>
                  </a:schemeClr>
                </a:solidFill>
                <a:effectLst/>
              </a:defRPr>
            </a:lvl1pPr>
          </a:lstStyle>
          <a:p>
            <a:r>
              <a:rPr lang="ru-RU" dirty="0"/>
              <a:t>Образец </a:t>
            </a:r>
            <a:endParaRPr lang="en-US" dirty="0"/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20475" y="404664"/>
            <a:ext cx="470536" cy="360510"/>
          </a:xfrm>
          <a:prstGeom prst="rect">
            <a:avLst/>
          </a:prstGeom>
        </p:spPr>
      </p:pic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498" userDrawn="1">
          <p15:clr>
            <a:srgbClr val="FBAE40"/>
          </p15:clr>
        </p15:guide>
        <p15:guide id="2" pos="483" userDrawn="1">
          <p15:clr>
            <a:srgbClr val="FBAE40"/>
          </p15:clr>
        </p15:guide>
        <p15:guide id="3" orient="horz" pos="487" userDrawn="1">
          <p15:clr>
            <a:srgbClr val="FBAE40"/>
          </p15:clr>
        </p15:guide>
        <p15:guide id="4" pos="71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10720" y="0"/>
            <a:ext cx="4050791" cy="6858000"/>
          </a:xfrm>
          <a:prstGeom prst="rect">
            <a:avLst/>
          </a:prstGeom>
          <a:solidFill>
            <a:srgbClr val="F18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979512"/>
            <a:ext cx="6492240" cy="5257800"/>
          </a:xfrm>
        </p:spPr>
        <p:txBody>
          <a:bodyPr/>
          <a:lstStyle>
            <a:lvl1pPr>
              <a:defRPr>
                <a:latin typeface="Ubuntu" charset="0"/>
                <a:ea typeface="Ubuntu" charset="0"/>
                <a:cs typeface="Ubuntu" charset="0"/>
              </a:defRPr>
            </a:lvl1pPr>
            <a:lvl2pPr marL="384048" indent="-182880">
              <a:buFont typeface="Arial" charset="0"/>
              <a:buChar char="•"/>
              <a:defRPr>
                <a:latin typeface="Ubuntu" charset="0"/>
                <a:ea typeface="Ubuntu" charset="0"/>
                <a:cs typeface="Ubuntu" charset="0"/>
              </a:defRPr>
            </a:lvl2pPr>
            <a:lvl3pPr>
              <a:defRPr>
                <a:latin typeface="Ubuntu" charset="0"/>
                <a:ea typeface="Ubuntu" charset="0"/>
                <a:cs typeface="Ubuntu" charset="0"/>
              </a:defRPr>
            </a:lvl3pPr>
            <a:lvl4pPr>
              <a:defRPr>
                <a:latin typeface="Ubuntu" charset="0"/>
                <a:ea typeface="Ubuntu" charset="0"/>
                <a:cs typeface="Ubuntu" charset="0"/>
              </a:defRPr>
            </a:lvl4pPr>
            <a:lvl5pPr>
              <a:defRPr>
                <a:latin typeface="Ubuntu" charset="0"/>
                <a:ea typeface="Ubuntu" charset="0"/>
                <a:cs typeface="Ubuntu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218228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  <a:latin typeface="Ubuntu" charset="0"/>
                <a:ea typeface="Ubuntu" charset="0"/>
                <a:cs typeface="Ubuntu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766763" y="6459785"/>
            <a:ext cx="2472271" cy="365125"/>
          </a:xfrm>
        </p:spPr>
        <p:txBody>
          <a:bodyPr/>
          <a:lstStyle/>
          <a:p>
            <a:fld id="{A79CC762-3D3A-2C40-8548-4145E24801A5}" type="datetime1">
              <a:rPr lang="ru-RU" smtClean="0"/>
              <a:t>20.11.2023</a:t>
            </a:fld>
            <a:endParaRPr lang="ru-RU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ru-RU" dirty="0"/>
              <a:t>Перспективный мониторинг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5749" y="6459785"/>
            <a:ext cx="1312025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A5EF97D-348D-BF42-95F2-D72FFD6E341D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20475" y="404664"/>
            <a:ext cx="470536" cy="36051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-3145" y="0"/>
            <a:ext cx="12191985" cy="6334316"/>
          </a:xfrm>
          <a:solidFill>
            <a:srgbClr val="F18500"/>
          </a:solid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  <a:latin typeface="Ubuntu" charset="0"/>
                <a:ea typeface="Ubuntu" charset="0"/>
                <a:cs typeface="Ubuntu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Чтобы добавить рисунок, перетащите его в заполнитель или щелкните значок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766763" y="6459785"/>
            <a:ext cx="2472271" cy="365125"/>
          </a:xfrm>
        </p:spPr>
        <p:txBody>
          <a:bodyPr/>
          <a:lstStyle/>
          <a:p>
            <a:fld id="{B52451D5-72EC-074B-88A2-222A7112CEF2}" type="datetime1">
              <a:rPr lang="ru-RU" smtClean="0"/>
              <a:t>20.11.2023</a:t>
            </a:fld>
            <a:endParaRPr lang="ru-RU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ru-RU" dirty="0"/>
              <a:t>Перспективный мониторинг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5749" y="6459785"/>
            <a:ext cx="1312025" cy="365125"/>
          </a:xfrm>
        </p:spPr>
        <p:txBody>
          <a:bodyPr/>
          <a:lstStyle/>
          <a:p>
            <a:fld id="{9A5EF97D-348D-BF42-95F2-D72FFD6E341D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Rectangle 5"/>
          <p:cNvSpPr/>
          <p:nvPr userDrawn="1"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0"/>
            <a:ext cx="121888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63992" y="3068960"/>
            <a:ext cx="10058400" cy="1532172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000" spc="-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/>
            </a:r>
            <a:br>
              <a:rPr lang="en-US" dirty="0"/>
            </a:br>
            <a:r>
              <a:rPr lang="ru-RU" dirty="0"/>
              <a:t>Сергей </a:t>
            </a:r>
            <a:r>
              <a:rPr lang="ru-RU" dirty="0" err="1"/>
              <a:t>Нейгер</a:t>
            </a:r>
            <a:r>
              <a:rPr lang="ru-RU" dirty="0"/>
              <a:t>!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66763" y="473164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none" spc="200" baseline="0">
                <a:solidFill>
                  <a:srgbClr val="F18500"/>
                </a:solidFill>
                <a:latin typeface="Ubuntu" charset="0"/>
                <a:ea typeface="Ubuntu" charset="0"/>
                <a:cs typeface="Ubuntu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 err="1"/>
              <a:t>www.amonitoring.ru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74127" y="6466189"/>
            <a:ext cx="2472271" cy="365125"/>
          </a:xfrm>
        </p:spPr>
        <p:txBody>
          <a:bodyPr/>
          <a:lstStyle/>
          <a:p>
            <a:fld id="{CAD16BB8-847C-1B4E-9636-D2210D9A0337}" type="datetime1">
              <a:rPr lang="ru-RU" smtClean="0"/>
              <a:t>20.11.2023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Перспективный мониторинг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77819" y="6459785"/>
            <a:ext cx="1312025" cy="365125"/>
          </a:xfrm>
        </p:spPr>
        <p:txBody>
          <a:bodyPr/>
          <a:lstStyle/>
          <a:p>
            <a:fld id="{9A5EF97D-348D-BF42-95F2-D72FFD6E341D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83409" y="765175"/>
            <a:ext cx="1322779" cy="1295673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 userDrawn="1"/>
        </p:nvSpPr>
        <p:spPr>
          <a:xfrm>
            <a:off x="763992" y="765175"/>
            <a:ext cx="10058400" cy="15116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bg1"/>
                </a:solidFill>
                <a:latin typeface="Ubuntu" charset="0"/>
                <a:ea typeface="Ubuntu" charset="0"/>
                <a:cs typeface="Ubuntu" charset="0"/>
              </a:defRPr>
            </a:lvl1pPr>
          </a:lstStyle>
          <a:p>
            <a:r>
              <a:rPr lang="ru-RU" sz="7200" dirty="0"/>
              <a:t>Спасибо!</a:t>
            </a:r>
            <a:endParaRPr lang="en-US" sz="7200" dirty="0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482">
          <p15:clr>
            <a:srgbClr val="FBAE40"/>
          </p15:clr>
        </p15:guide>
        <p15:guide id="2" pos="7185">
          <p15:clr>
            <a:srgbClr val="FBAE40"/>
          </p15:clr>
        </p15:guide>
        <p15:guide id="3" pos="483">
          <p15:clr>
            <a:srgbClr val="FBAE40"/>
          </p15:clr>
        </p15:guide>
        <p15:guide id="4" orient="horz" pos="350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F18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rgbClr val="FFFFFF"/>
                </a:solidFill>
                <a:latin typeface="Ubuntu" panose="020B0504030602030204" pitchFamily="34" charset="0"/>
              </a:defRPr>
            </a:lvl1pPr>
          </a:lstStyle>
          <a:p>
            <a:fld id="{6D3D7653-95C4-024B-99E2-393CD0655315}" type="datetime1">
              <a:rPr lang="ru-RU" smtClean="0"/>
              <a:pPr/>
              <a:t>20.11.2023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 cap="all" baseline="0">
                <a:solidFill>
                  <a:srgbClr val="FFFFFF"/>
                </a:solidFill>
                <a:latin typeface="Ubuntu" panose="020B0504030602030204" pitchFamily="34" charset="0"/>
              </a:defRPr>
            </a:lvl1pPr>
          </a:lstStyle>
          <a:p>
            <a:r>
              <a:rPr lang="ru-RU" dirty="0"/>
              <a:t>Перспективный мониторинг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rgbClr val="FFFFFF"/>
                </a:solidFill>
                <a:latin typeface="Ubuntu" panose="020B0504030602030204" pitchFamily="34" charset="0"/>
              </a:defRPr>
            </a:lvl1pPr>
          </a:lstStyle>
          <a:p>
            <a:fld id="{9A5EF97D-348D-BF42-95F2-D72FFD6E341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833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2" r:id="rId3"/>
    <p:sldLayoutId id="2147483675" r:id="rId4"/>
    <p:sldLayoutId id="2147483676" r:id="rId5"/>
    <p:sldLayoutId id="2147483677" r:id="rId6"/>
    <p:sldLayoutId id="2147483678" r:id="rId7"/>
    <p:sldLayoutId id="2147483680" r:id="rId8"/>
    <p:sldLayoutId id="2147483681" r:id="rId9"/>
    <p:sldLayoutId id="2147483683" r:id="rId10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Ubuntu" charset="0"/>
          <a:ea typeface="Ubuntu" charset="0"/>
          <a:cs typeface="Ubuntu" charset="0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b="0" i="0" kern="1200">
          <a:solidFill>
            <a:schemeClr val="tx1">
              <a:lumMod val="75000"/>
              <a:lumOff val="25000"/>
            </a:schemeClr>
          </a:solidFill>
          <a:latin typeface="Ubuntu" panose="020B0504030602030204" pitchFamily="34" charset="0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b="0" i="0" kern="1200">
          <a:solidFill>
            <a:schemeClr val="tx1">
              <a:lumMod val="75000"/>
              <a:lumOff val="25000"/>
            </a:schemeClr>
          </a:solidFill>
          <a:latin typeface="Ubuntu" panose="020B0504030602030204" pitchFamily="34" charset="0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b="0" i="0" kern="1200">
          <a:solidFill>
            <a:schemeClr val="tx1">
              <a:lumMod val="75000"/>
              <a:lumOff val="25000"/>
            </a:schemeClr>
          </a:solidFill>
          <a:latin typeface="Ubuntu" panose="020B0504030602030204" pitchFamily="34" charset="0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b="0" i="0" kern="1200">
          <a:solidFill>
            <a:schemeClr val="tx1">
              <a:lumMod val="75000"/>
              <a:lumOff val="25000"/>
            </a:schemeClr>
          </a:solidFill>
          <a:latin typeface="Ubuntu" panose="020B0504030602030204" pitchFamily="34" charset="0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b="0" i="0" kern="1200">
          <a:solidFill>
            <a:schemeClr val="tx1">
              <a:lumMod val="75000"/>
              <a:lumOff val="25000"/>
            </a:schemeClr>
          </a:solidFill>
          <a:latin typeface="Ubuntu" panose="020B0504030602030204" pitchFamily="34" charset="0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5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63992" y="908720"/>
            <a:ext cx="8212328" cy="3566160"/>
          </a:xfrm>
        </p:spPr>
        <p:txBody>
          <a:bodyPr>
            <a:normAutofit/>
          </a:bodyPr>
          <a:lstStyle/>
          <a:p>
            <a:r>
              <a:rPr lang="ru-RU" sz="7200" dirty="0" smtClean="0"/>
              <a:t>Путь начинающего специалиста</a:t>
            </a:r>
            <a:endParaRPr lang="ru-RU" sz="7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66763" y="4797152"/>
            <a:ext cx="10058400" cy="1143000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 smtClean="0"/>
              <a:t>Максим Кувшинов</a:t>
            </a:r>
            <a:endParaRPr lang="en-US" b="1" dirty="0"/>
          </a:p>
          <a:p>
            <a:r>
              <a:rPr lang="ru-RU" b="1" dirty="0" smtClean="0"/>
              <a:t>АО «Перспективный мониторинг» </a:t>
            </a:r>
          </a:p>
          <a:p>
            <a:r>
              <a:rPr lang="ru-RU" b="1" dirty="0" smtClean="0"/>
              <a:t>ГК «</a:t>
            </a:r>
            <a:r>
              <a:rPr lang="ru-RU" dirty="0" smtClean="0"/>
              <a:t>ИнфоТеКС»</a:t>
            </a:r>
            <a:endParaRPr lang="ru-RU" b="1" cap="none" dirty="0"/>
          </a:p>
        </p:txBody>
      </p:sp>
    </p:spTree>
    <p:extLst>
      <p:ext uri="{BB962C8B-B14F-4D97-AF65-F5344CB8AC3E}">
        <p14:creationId xmlns:p14="http://schemas.microsoft.com/office/powerpoint/2010/main" val="542150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2218E-4812-B142-AEBD-DA9658E7BE2C}" type="datetime1">
              <a:rPr lang="ru-RU" smtClean="0"/>
              <a:t>20.11.2023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Перспективный мониторинг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F97D-348D-BF42-95F2-D72FFD6E341D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11" name="Заголовок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Где меня ждут?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1055440" y="2420888"/>
            <a:ext cx="2016224" cy="9361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Эксплуатация</a:t>
            </a:r>
          </a:p>
          <a:p>
            <a:pPr algn="ctr"/>
            <a:r>
              <a:rPr lang="ru-RU" dirty="0" smtClean="0"/>
              <a:t>(регулятор)</a:t>
            </a:r>
            <a:endParaRPr 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3719736" y="2420888"/>
            <a:ext cx="2016224" cy="9361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Интеграторы</a:t>
            </a:r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6313610" y="2348880"/>
            <a:ext cx="3094757" cy="10081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Исследователи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R&amp;D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9101731" y="2433571"/>
            <a:ext cx="1768571" cy="81794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Разработчики</a:t>
            </a:r>
            <a:endParaRPr lang="ru-RU" dirty="0"/>
          </a:p>
        </p:txBody>
      </p:sp>
      <p:sp>
        <p:nvSpPr>
          <p:cNvPr id="27" name="Прямоугольник 26"/>
          <p:cNvSpPr/>
          <p:nvPr/>
        </p:nvSpPr>
        <p:spPr>
          <a:xfrm>
            <a:off x="1055440" y="3429000"/>
            <a:ext cx="188006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00" dirty="0" smtClean="0"/>
              <a:t>Администратор ИБ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00" dirty="0" smtClean="0"/>
              <a:t>Аналитик (Аудитор)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00" dirty="0" smtClean="0"/>
              <a:t>Инженер СЗИ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00" dirty="0" smtClean="0"/>
              <a:t>Инспектор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00" dirty="0" smtClean="0"/>
              <a:t>Эксперт</a:t>
            </a:r>
          </a:p>
        </p:txBody>
      </p:sp>
      <p:sp>
        <p:nvSpPr>
          <p:cNvPr id="28" name="Прямоугольник 27"/>
          <p:cNvSpPr/>
          <p:nvPr/>
        </p:nvSpPr>
        <p:spPr>
          <a:xfrm>
            <a:off x="3719736" y="3399823"/>
            <a:ext cx="146694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00" dirty="0" smtClean="0"/>
              <a:t>Аналитик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00" dirty="0" smtClean="0"/>
              <a:t>Аудитор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00" dirty="0" smtClean="0"/>
              <a:t>Инженер СЗИ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00" dirty="0" smtClean="0"/>
              <a:t>Программист</a:t>
            </a:r>
            <a:endParaRPr lang="ru-RU" sz="1200" dirty="0"/>
          </a:p>
        </p:txBody>
      </p:sp>
      <p:sp>
        <p:nvSpPr>
          <p:cNvPr id="29" name="Прямоугольник 28"/>
          <p:cNvSpPr/>
          <p:nvPr/>
        </p:nvSpPr>
        <p:spPr>
          <a:xfrm>
            <a:off x="6349447" y="3399823"/>
            <a:ext cx="182441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00" dirty="0" smtClean="0"/>
              <a:t>Аналитик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00" dirty="0" err="1" smtClean="0"/>
              <a:t>Пентестер</a:t>
            </a:r>
            <a:endParaRPr lang="ru-RU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00" dirty="0" smtClean="0"/>
              <a:t>Инженер ИБ (СЗИ)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00" dirty="0" smtClean="0"/>
              <a:t>Программист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00" dirty="0" smtClean="0"/>
              <a:t>Реверс-инженер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00" dirty="0" smtClean="0"/>
              <a:t>Исследователь</a:t>
            </a:r>
          </a:p>
        </p:txBody>
      </p:sp>
      <p:sp>
        <p:nvSpPr>
          <p:cNvPr id="31" name="Прямоугольник 30"/>
          <p:cNvSpPr/>
          <p:nvPr/>
        </p:nvSpPr>
        <p:spPr>
          <a:xfrm>
            <a:off x="3071664" y="5585957"/>
            <a:ext cx="64087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 это далеко не полный список направлений и должностей</a:t>
            </a:r>
            <a:endParaRPr lang="ru-RU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4237771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2218E-4812-B142-AEBD-DA9658E7BE2C}" type="datetime1">
              <a:rPr lang="ru-RU" smtClean="0"/>
              <a:t>20.11.2023</a:t>
            </a:fld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F97D-348D-BF42-95F2-D72FFD6E341D}" type="slidenum">
              <a:rPr lang="ru-RU" smtClean="0"/>
              <a:pPr/>
              <a:t>3</a:t>
            </a:fld>
            <a:endParaRPr lang="ru-RU" dirty="0"/>
          </a:p>
        </p:txBody>
      </p:sp>
      <p:graphicFrame>
        <p:nvGraphicFramePr>
          <p:cNvPr id="10" name="Диаграмма 9"/>
          <p:cNvGraphicFramePr/>
          <p:nvPr>
            <p:extLst>
              <p:ext uri="{D42A27DB-BD31-4B8C-83A1-F6EECF244321}">
                <p14:modId xmlns:p14="http://schemas.microsoft.com/office/powerpoint/2010/main" val="618420294"/>
              </p:ext>
            </p:extLst>
          </p:nvPr>
        </p:nvGraphicFramePr>
        <p:xfrm>
          <a:off x="1604997" y="2390168"/>
          <a:ext cx="3679941" cy="255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Открытые вакансии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87362" y="2317522"/>
            <a:ext cx="20124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Без опыта </a:t>
            </a:r>
            <a:r>
              <a:rPr lang="en-US" dirty="0" smtClean="0"/>
              <a:t>– </a:t>
            </a:r>
            <a:r>
              <a:rPr lang="ru-RU" dirty="0" smtClean="0"/>
              <a:t>(</a:t>
            </a:r>
            <a:r>
              <a:rPr lang="en-US" dirty="0" smtClean="0"/>
              <a:t>59</a:t>
            </a:r>
            <a:r>
              <a:rPr lang="ru-RU" dirty="0" smtClean="0"/>
              <a:t>)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3787035" y="4727515"/>
            <a:ext cx="23089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Опыт </a:t>
            </a:r>
            <a:r>
              <a:rPr lang="en-US" dirty="0" smtClean="0"/>
              <a:t>&gt; 2 </a:t>
            </a:r>
            <a:r>
              <a:rPr lang="ru-RU" dirty="0" smtClean="0"/>
              <a:t>лет (327)</a:t>
            </a:r>
            <a:r>
              <a:rPr lang="en-US" dirty="0" smtClean="0"/>
              <a:t>  </a:t>
            </a: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3019858" y="1696558"/>
            <a:ext cx="7280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solidFill>
                  <a:schemeClr val="bg2">
                    <a:lumMod val="50000"/>
                  </a:schemeClr>
                </a:solidFill>
              </a:rPr>
              <a:t>СФО</a:t>
            </a:r>
            <a:endParaRPr lang="ru-RU" b="1" dirty="0">
              <a:solidFill>
                <a:schemeClr val="bg2">
                  <a:lumMod val="50000"/>
                </a:schemeClr>
              </a:solidFill>
            </a:endParaRPr>
          </a:p>
        </p:txBody>
      </p:sp>
      <p:graphicFrame>
        <p:nvGraphicFramePr>
          <p:cNvPr id="12" name="Диаграмма 11"/>
          <p:cNvGraphicFramePr/>
          <p:nvPr>
            <p:extLst>
              <p:ext uri="{D42A27DB-BD31-4B8C-83A1-F6EECF244321}">
                <p14:modId xmlns:p14="http://schemas.microsoft.com/office/powerpoint/2010/main" val="2704006572"/>
              </p:ext>
            </p:extLst>
          </p:nvPr>
        </p:nvGraphicFramePr>
        <p:xfrm>
          <a:off x="6258990" y="2317522"/>
          <a:ext cx="3509418" cy="25946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Прямоугольник 12"/>
          <p:cNvSpPr/>
          <p:nvPr/>
        </p:nvSpPr>
        <p:spPr>
          <a:xfrm>
            <a:off x="5447928" y="2214981"/>
            <a:ext cx="21407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Без опыта </a:t>
            </a:r>
            <a:r>
              <a:rPr lang="en-US" dirty="0" smtClean="0"/>
              <a:t>– </a:t>
            </a:r>
            <a:r>
              <a:rPr lang="ru-RU" dirty="0" smtClean="0"/>
              <a:t>(403)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8677529" y="4725144"/>
            <a:ext cx="25077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Опыт 2-6</a:t>
            </a:r>
            <a:r>
              <a:rPr lang="en-US" dirty="0" smtClean="0"/>
              <a:t> </a:t>
            </a:r>
            <a:r>
              <a:rPr lang="ru-RU" dirty="0" smtClean="0"/>
              <a:t>лет (3 384)</a:t>
            </a:r>
            <a:r>
              <a:rPr lang="en-US" dirty="0" smtClean="0"/>
              <a:t>  </a:t>
            </a:r>
            <a:endParaRPr 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7449292" y="1660738"/>
            <a:ext cx="10949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 smtClean="0">
                <a:solidFill>
                  <a:schemeClr val="bg2">
                    <a:lumMod val="50000"/>
                  </a:schemeClr>
                </a:solidFill>
              </a:rPr>
              <a:t>Россия</a:t>
            </a:r>
            <a:endParaRPr lang="ru-RU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8072851" y="6001543"/>
            <a:ext cx="399981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>
                <a:solidFill>
                  <a:schemeClr val="bg2">
                    <a:lumMod val="50000"/>
                  </a:schemeClr>
                </a:solidFill>
              </a:rPr>
              <a:t>по данным сервиса поиска работы с </a:t>
            </a:r>
            <a:r>
              <a:rPr lang="ru-RU" sz="1400" dirty="0" smtClean="0">
                <a:solidFill>
                  <a:schemeClr val="bg2">
                    <a:lumMod val="50000"/>
                  </a:schemeClr>
                </a:solidFill>
              </a:rPr>
              <a:t>202</a:t>
            </a:r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2</a:t>
            </a:r>
            <a:r>
              <a:rPr lang="ru-RU" sz="1400" dirty="0" smtClean="0">
                <a:solidFill>
                  <a:schemeClr val="bg2">
                    <a:lumMod val="50000"/>
                  </a:schemeClr>
                </a:solidFill>
              </a:rPr>
              <a:t>-2</a:t>
            </a:r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3</a:t>
            </a:r>
            <a:r>
              <a:rPr lang="ru-RU" sz="1400" dirty="0" smtClean="0">
                <a:solidFill>
                  <a:schemeClr val="bg2">
                    <a:lumMod val="50000"/>
                  </a:schemeClr>
                </a:solidFill>
              </a:rPr>
              <a:t>г</a:t>
            </a:r>
            <a:endParaRPr lang="ru-RU" sz="1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5113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6319397" y="2204864"/>
            <a:ext cx="5472608" cy="2880320"/>
          </a:xfrm>
        </p:spPr>
        <p:txBody>
          <a:bodyPr>
            <a:normAutofit fontScale="85000" lnSpcReduction="10000"/>
          </a:bodyPr>
          <a:lstStyle/>
          <a:p>
            <a:r>
              <a:rPr lang="ru-RU" dirty="0" smtClean="0"/>
              <a:t>Сети, Операционные системы</a:t>
            </a:r>
          </a:p>
          <a:p>
            <a:r>
              <a:rPr lang="ru-RU" dirty="0"/>
              <a:t>СРЕДСТВА </a:t>
            </a:r>
            <a:r>
              <a:rPr lang="ru-RU" dirty="0" smtClean="0"/>
              <a:t>ЗАЩИТЫ, КРИПТОГРАФИЯ</a:t>
            </a:r>
          </a:p>
          <a:p>
            <a:r>
              <a:rPr lang="ru-RU" dirty="0" smtClean="0"/>
              <a:t>ФЗ (НПА регулятора)</a:t>
            </a:r>
            <a:r>
              <a:rPr lang="en-US" dirty="0" smtClean="0"/>
              <a:t> </a:t>
            </a:r>
            <a:r>
              <a:rPr lang="ru-RU" dirty="0" smtClean="0"/>
              <a:t>ГОСТ, </a:t>
            </a:r>
            <a:r>
              <a:rPr lang="en-US" dirty="0" smtClean="0"/>
              <a:t>GDPR, PCI DSS</a:t>
            </a:r>
            <a:r>
              <a:rPr lang="ru-RU" dirty="0" smtClean="0"/>
              <a:t> и т.п.</a:t>
            </a:r>
            <a:r>
              <a:rPr lang="en-US" dirty="0" smtClean="0"/>
              <a:t> </a:t>
            </a:r>
            <a:endParaRPr lang="ru-RU" dirty="0" smtClean="0"/>
          </a:p>
          <a:p>
            <a:r>
              <a:rPr lang="en-US" dirty="0" smtClean="0"/>
              <a:t>MITRE ATT&amp;CK</a:t>
            </a:r>
            <a:r>
              <a:rPr lang="ru-RU" dirty="0" smtClean="0"/>
              <a:t>, ФОРЕНЗИКА, УЯЗВИМОСТИ и т.п.</a:t>
            </a:r>
          </a:p>
          <a:p>
            <a:r>
              <a:rPr lang="ru-RU" dirty="0" smtClean="0"/>
              <a:t>ЯЗЫКИ ПРОГРАММИРОВАНИЯ (</a:t>
            </a:r>
            <a:r>
              <a:rPr lang="en-US" dirty="0" smtClean="0"/>
              <a:t>SDLC)</a:t>
            </a:r>
            <a:r>
              <a:rPr lang="ru-RU" dirty="0" smtClean="0"/>
              <a:t> и др.</a:t>
            </a:r>
          </a:p>
          <a:p>
            <a:r>
              <a:rPr lang="ru-RU" dirty="0" smtClean="0"/>
              <a:t>АНГЛИЙСКИЙ ЯЗЫК</a:t>
            </a:r>
          </a:p>
          <a:p>
            <a:r>
              <a:rPr lang="ru-RU" dirty="0"/>
              <a:t>Математика, </a:t>
            </a:r>
            <a:r>
              <a:rPr lang="ru-RU" dirty="0" err="1"/>
              <a:t>нейросети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2218E-4812-B142-AEBD-DA9658E7BE2C}" type="datetime1">
              <a:rPr lang="ru-RU" smtClean="0"/>
              <a:t>20.11.2023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Перспективный мониторинг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F97D-348D-BF42-95F2-D72FFD6E341D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Что будут спрашивать на собеседование?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1415480" y="1361085"/>
            <a:ext cx="2016224" cy="9361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Эксплуатация</a:t>
            </a:r>
            <a:endParaRPr lang="ru-RU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1415480" y="2448525"/>
            <a:ext cx="2016224" cy="936104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Интеграторы</a:t>
            </a:r>
            <a:endParaRPr lang="ru-RU" dirty="0"/>
          </a:p>
        </p:txBody>
      </p:sp>
      <p:sp>
        <p:nvSpPr>
          <p:cNvPr id="22" name="Прямоугольник 21"/>
          <p:cNvSpPr/>
          <p:nvPr/>
        </p:nvSpPr>
        <p:spPr>
          <a:xfrm>
            <a:off x="1415480" y="3533866"/>
            <a:ext cx="2016224" cy="936104"/>
          </a:xfrm>
          <a:prstGeom prst="rect">
            <a:avLst/>
          </a:prstGeom>
          <a:ln>
            <a:solidFill>
              <a:srgbClr val="D9202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Исследователи </a:t>
            </a:r>
            <a:r>
              <a:rPr lang="en-US" dirty="0" smtClean="0"/>
              <a:t>R&amp;D</a:t>
            </a:r>
            <a:endParaRPr lang="ru-RU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1415480" y="4633561"/>
            <a:ext cx="2016224" cy="936104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Разработчики</a:t>
            </a:r>
            <a:endParaRPr lang="ru-RU" dirty="0"/>
          </a:p>
        </p:txBody>
      </p:sp>
      <p:cxnSp>
        <p:nvCxnSpPr>
          <p:cNvPr id="25" name="Прямая соединительная линия 24"/>
          <p:cNvCxnSpPr>
            <a:endCxn id="20" idx="3"/>
          </p:cNvCxnSpPr>
          <p:nvPr/>
        </p:nvCxnSpPr>
        <p:spPr>
          <a:xfrm flipH="1" flipV="1">
            <a:off x="3431704" y="1829137"/>
            <a:ext cx="2952328" cy="3757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endCxn id="20" idx="3"/>
          </p:cNvCxnSpPr>
          <p:nvPr/>
        </p:nvCxnSpPr>
        <p:spPr>
          <a:xfrm flipH="1" flipV="1">
            <a:off x="3431704" y="1829137"/>
            <a:ext cx="2952328" cy="8797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endCxn id="20" idx="3"/>
          </p:cNvCxnSpPr>
          <p:nvPr/>
        </p:nvCxnSpPr>
        <p:spPr>
          <a:xfrm flipH="1" flipV="1">
            <a:off x="3431704" y="1829137"/>
            <a:ext cx="2952328" cy="13118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>
            <a:stCxn id="21" idx="3"/>
          </p:cNvCxnSpPr>
          <p:nvPr/>
        </p:nvCxnSpPr>
        <p:spPr>
          <a:xfrm flipV="1">
            <a:off x="3431704" y="2221521"/>
            <a:ext cx="2952328" cy="695056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>
            <a:stCxn id="21" idx="3"/>
          </p:cNvCxnSpPr>
          <p:nvPr/>
        </p:nvCxnSpPr>
        <p:spPr>
          <a:xfrm flipV="1">
            <a:off x="3431704" y="2708920"/>
            <a:ext cx="2952328" cy="207657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21" idx="3"/>
          </p:cNvCxnSpPr>
          <p:nvPr/>
        </p:nvCxnSpPr>
        <p:spPr>
          <a:xfrm>
            <a:off x="3431704" y="2916577"/>
            <a:ext cx="2952328" cy="224391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stCxn id="21" idx="3"/>
          </p:cNvCxnSpPr>
          <p:nvPr/>
        </p:nvCxnSpPr>
        <p:spPr>
          <a:xfrm>
            <a:off x="3431704" y="2916577"/>
            <a:ext cx="2952328" cy="1358172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23" idx="3"/>
          </p:cNvCxnSpPr>
          <p:nvPr/>
        </p:nvCxnSpPr>
        <p:spPr>
          <a:xfrm flipV="1">
            <a:off x="3431704" y="2217301"/>
            <a:ext cx="2912638" cy="2884312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>
            <a:stCxn id="23" idx="3"/>
          </p:cNvCxnSpPr>
          <p:nvPr/>
        </p:nvCxnSpPr>
        <p:spPr>
          <a:xfrm flipV="1">
            <a:off x="3431704" y="4274749"/>
            <a:ext cx="2952328" cy="826864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/>
          <p:cNvCxnSpPr>
            <a:stCxn id="23" idx="3"/>
          </p:cNvCxnSpPr>
          <p:nvPr/>
        </p:nvCxnSpPr>
        <p:spPr>
          <a:xfrm flipV="1">
            <a:off x="3431704" y="4742801"/>
            <a:ext cx="2880320" cy="358812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/>
          <p:cNvCxnSpPr>
            <a:stCxn id="23" idx="3"/>
          </p:cNvCxnSpPr>
          <p:nvPr/>
        </p:nvCxnSpPr>
        <p:spPr>
          <a:xfrm flipV="1">
            <a:off x="3431704" y="3861048"/>
            <a:ext cx="2912638" cy="1240565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50"/>
          <p:cNvCxnSpPr>
            <a:stCxn id="22" idx="3"/>
          </p:cNvCxnSpPr>
          <p:nvPr/>
        </p:nvCxnSpPr>
        <p:spPr>
          <a:xfrm flipV="1">
            <a:off x="3431704" y="3533866"/>
            <a:ext cx="2952328" cy="46805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единительная линия 51"/>
          <p:cNvCxnSpPr>
            <a:stCxn id="22" idx="3"/>
          </p:cNvCxnSpPr>
          <p:nvPr/>
        </p:nvCxnSpPr>
        <p:spPr>
          <a:xfrm flipV="1">
            <a:off x="3431704" y="2217301"/>
            <a:ext cx="2967073" cy="1784617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>
            <a:stCxn id="22" idx="3"/>
          </p:cNvCxnSpPr>
          <p:nvPr/>
        </p:nvCxnSpPr>
        <p:spPr>
          <a:xfrm flipV="1">
            <a:off x="3431704" y="3861048"/>
            <a:ext cx="2912638" cy="14087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>
            <a:stCxn id="22" idx="3"/>
          </p:cNvCxnSpPr>
          <p:nvPr/>
        </p:nvCxnSpPr>
        <p:spPr>
          <a:xfrm>
            <a:off x="3431704" y="4001918"/>
            <a:ext cx="2887693" cy="73169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/>
          <p:cNvCxnSpPr/>
          <p:nvPr/>
        </p:nvCxnSpPr>
        <p:spPr>
          <a:xfrm flipV="1">
            <a:off x="3431704" y="2708920"/>
            <a:ext cx="2952328" cy="12929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/>
          <p:cNvCxnSpPr/>
          <p:nvPr/>
        </p:nvCxnSpPr>
        <p:spPr>
          <a:xfrm>
            <a:off x="3464022" y="3992731"/>
            <a:ext cx="2880320" cy="28546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Прямоугольник 63"/>
          <p:cNvSpPr/>
          <p:nvPr/>
        </p:nvSpPr>
        <p:spPr>
          <a:xfrm>
            <a:off x="8904312" y="6021288"/>
            <a:ext cx="32120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 smtClean="0">
                <a:solidFill>
                  <a:schemeClr val="bg2">
                    <a:lumMod val="50000"/>
                  </a:schemeClr>
                </a:solidFill>
              </a:rPr>
              <a:t>*Все зависит от задач организации</a:t>
            </a:r>
            <a:endParaRPr lang="ru-RU" sz="1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7544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/>
          <p:cNvSpPr>
            <a:spLocks noGrp="1"/>
          </p:cNvSpPr>
          <p:nvPr>
            <p:ph type="pic" idx="1"/>
          </p:nvPr>
        </p:nvSpPr>
        <p:spPr/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2218E-4812-B142-AEBD-DA9658E7BE2C}" type="datetime1">
              <a:rPr lang="ru-RU" smtClean="0"/>
              <a:t>20.11.2023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Перспективный мониторинг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F97D-348D-BF42-95F2-D72FFD6E341D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7" name="Плюс 6"/>
          <p:cNvSpPr>
            <a:spLocks noChangeAspect="1"/>
          </p:cNvSpPr>
          <p:nvPr/>
        </p:nvSpPr>
        <p:spPr>
          <a:xfrm rot="18876891">
            <a:off x="2398615" y="-368256"/>
            <a:ext cx="7181346" cy="7181346"/>
          </a:xfrm>
          <a:prstGeom prst="mathPlus">
            <a:avLst/>
          </a:prstGeom>
          <a:solidFill>
            <a:schemeClr val="bg1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880" y="2276872"/>
            <a:ext cx="1944216" cy="1959171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704301" y="4981192"/>
            <a:ext cx="3337126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500" b="1" dirty="0" smtClean="0">
                <a:solidFill>
                  <a:schemeClr val="bg1"/>
                </a:solidFill>
              </a:rPr>
              <a:t>ИССЛЕДОВАНИЯ СОСТОЯНИЯ БЕЗОПАСНОСТИ ИС И ПРОГРАММНЫХ ПРОДУКТОВ</a:t>
            </a:r>
            <a:endParaRPr lang="ru-RU" sz="1500" b="1" dirty="0">
              <a:solidFill>
                <a:schemeClr val="bg1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695400" y="731876"/>
            <a:ext cx="322400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500" b="1" dirty="0" smtClean="0">
                <a:solidFill>
                  <a:schemeClr val="bg1"/>
                </a:solidFill>
              </a:rPr>
              <a:t>МОНИТОРИНГ И ПРЕДОТВРАЩЕНИЕ АТАК</a:t>
            </a:r>
            <a:endParaRPr lang="ru-RU" sz="1500" b="1" dirty="0">
              <a:solidFill>
                <a:schemeClr val="bg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7968208" y="4981192"/>
            <a:ext cx="268796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1500" b="1" dirty="0" smtClean="0">
                <a:solidFill>
                  <a:schemeClr val="bg1"/>
                </a:solidFill>
              </a:rPr>
              <a:t>РАЗРАБОТКА РЕШЕНИЙ ПО ИНФОРМАЦИОННОЙ БЕЗОПАСНОСТИ</a:t>
            </a:r>
            <a:endParaRPr lang="ru-RU" sz="1500" b="1" dirty="0">
              <a:solidFill>
                <a:schemeClr val="bg1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8150997" y="731876"/>
            <a:ext cx="25051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1500" b="1" dirty="0" smtClean="0">
                <a:solidFill>
                  <a:schemeClr val="bg1"/>
                </a:solidFill>
              </a:rPr>
              <a:t>РАССЛЕДОВАНИЯ ИНЦИДЕНТОВ </a:t>
            </a:r>
            <a:endParaRPr lang="ru-RU" sz="15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5100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2218E-4812-B142-AEBD-DA9658E7BE2C}" type="datetime1">
              <a:rPr lang="ru-RU" smtClean="0"/>
              <a:t>20.11.2023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Перспективный мониторинг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F97D-348D-BF42-95F2-D72FFD6E341D}" type="slidenum">
              <a:rPr lang="ru-RU" smtClean="0"/>
              <a:pPr/>
              <a:t>6</a:t>
            </a:fld>
            <a:endParaRPr lang="ru-RU" dirty="0"/>
          </a:p>
        </p:txBody>
      </p:sp>
      <p:grpSp>
        <p:nvGrpSpPr>
          <p:cNvPr id="24" name="Группа 23"/>
          <p:cNvGrpSpPr>
            <a:grpSpLocks noChangeAspect="1"/>
          </p:cNvGrpSpPr>
          <p:nvPr/>
        </p:nvGrpSpPr>
        <p:grpSpPr>
          <a:xfrm>
            <a:off x="3566870" y="1196752"/>
            <a:ext cx="4968940" cy="4968941"/>
            <a:chOff x="1076624" y="1426763"/>
            <a:chExt cx="4324819" cy="4324820"/>
          </a:xfrm>
        </p:grpSpPr>
        <p:grpSp>
          <p:nvGrpSpPr>
            <p:cNvPr id="7" name="Group 45"/>
            <p:cNvGrpSpPr>
              <a:grpSpLocks noChangeAspect="1"/>
            </p:cNvGrpSpPr>
            <p:nvPr/>
          </p:nvGrpSpPr>
          <p:grpSpPr>
            <a:xfrm>
              <a:off x="1076624" y="1426763"/>
              <a:ext cx="2861034" cy="2861034"/>
              <a:chOff x="3857620" y="1072933"/>
              <a:chExt cx="2861034" cy="2861034"/>
            </a:xfrm>
            <a:solidFill>
              <a:schemeClr val="tx1"/>
            </a:solidFill>
          </p:grpSpPr>
          <p:sp>
            <p:nvSpPr>
              <p:cNvPr id="8" name="Rectangle 5"/>
              <p:cNvSpPr/>
              <p:nvPr/>
            </p:nvSpPr>
            <p:spPr>
              <a:xfrm>
                <a:off x="3857620" y="1072933"/>
                <a:ext cx="1397249" cy="139724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400" b="1" dirty="0"/>
                  <a:t>Сайты и </a:t>
                </a:r>
                <a:r>
                  <a:rPr lang="en-US" sz="1400" b="1" dirty="0" smtClean="0"/>
                  <a:t/>
                </a:r>
                <a:br>
                  <a:rPr lang="en-US" sz="1400" b="1" dirty="0" smtClean="0"/>
                </a:br>
                <a:r>
                  <a:rPr lang="ru-RU" sz="1400" b="1" dirty="0" smtClean="0"/>
                  <a:t>веб-приложения</a:t>
                </a:r>
                <a:endParaRPr lang="en-US" sz="1400" b="1" dirty="0" smtClean="0"/>
              </a:p>
            </p:txBody>
          </p:sp>
          <p:sp>
            <p:nvSpPr>
              <p:cNvPr id="9" name="Rectangle 6"/>
              <p:cNvSpPr/>
              <p:nvPr/>
            </p:nvSpPr>
            <p:spPr>
              <a:xfrm>
                <a:off x="5321405" y="1072933"/>
                <a:ext cx="1397249" cy="139724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400" b="1" dirty="0" smtClean="0"/>
                  <a:t>СУБД</a:t>
                </a:r>
                <a:endParaRPr lang="en-US" sz="1400" b="1" dirty="0"/>
              </a:p>
            </p:txBody>
          </p:sp>
          <p:sp>
            <p:nvSpPr>
              <p:cNvPr id="10" name="Rectangle 8"/>
              <p:cNvSpPr/>
              <p:nvPr/>
            </p:nvSpPr>
            <p:spPr>
              <a:xfrm>
                <a:off x="3857620" y="2536718"/>
                <a:ext cx="1397249" cy="139724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400" b="1" dirty="0"/>
                  <a:t>Средства защиты </a:t>
                </a:r>
                <a:r>
                  <a:rPr lang="ru-RU" sz="1400" b="1" dirty="0" smtClean="0"/>
                  <a:t>информации</a:t>
                </a:r>
                <a:endParaRPr lang="ru-RU" sz="1400" b="1" dirty="0"/>
              </a:p>
            </p:txBody>
          </p:sp>
        </p:grpSp>
        <p:grpSp>
          <p:nvGrpSpPr>
            <p:cNvPr id="11" name="Group 44"/>
            <p:cNvGrpSpPr>
              <a:grpSpLocks noChangeAspect="1"/>
            </p:cNvGrpSpPr>
            <p:nvPr/>
          </p:nvGrpSpPr>
          <p:grpSpPr>
            <a:xfrm>
              <a:off x="1076624" y="1426763"/>
              <a:ext cx="4324819" cy="4324820"/>
              <a:chOff x="3857620" y="1072933"/>
              <a:chExt cx="4324819" cy="4324820"/>
            </a:xfrm>
          </p:grpSpPr>
          <p:sp>
            <p:nvSpPr>
              <p:cNvPr id="12" name="Rectangle 7"/>
              <p:cNvSpPr/>
              <p:nvPr/>
            </p:nvSpPr>
            <p:spPr>
              <a:xfrm>
                <a:off x="6785190" y="1072933"/>
                <a:ext cx="1397249" cy="139724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400" b="1" dirty="0"/>
                  <a:t>Сетевые службы и </a:t>
                </a:r>
                <a:r>
                  <a:rPr lang="ru-RU" sz="1400" b="1" dirty="0" smtClean="0"/>
                  <a:t>сервисы</a:t>
                </a:r>
                <a:endParaRPr lang="en-US" sz="1400" b="1" dirty="0"/>
              </a:p>
            </p:txBody>
          </p:sp>
          <p:sp>
            <p:nvSpPr>
              <p:cNvPr id="13" name="Rectangle 9"/>
              <p:cNvSpPr/>
              <p:nvPr/>
            </p:nvSpPr>
            <p:spPr>
              <a:xfrm>
                <a:off x="5321405" y="2536718"/>
                <a:ext cx="1397249" cy="139724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400" b="1" dirty="0"/>
                  <a:t>Сетевое оборудование</a:t>
                </a:r>
              </a:p>
              <a:p>
                <a:pPr algn="ctr"/>
                <a:endParaRPr lang="en-US" sz="1400" b="1" dirty="0"/>
              </a:p>
            </p:txBody>
          </p:sp>
          <p:sp>
            <p:nvSpPr>
              <p:cNvPr id="14" name="Rectangle 11"/>
              <p:cNvSpPr/>
              <p:nvPr/>
            </p:nvSpPr>
            <p:spPr>
              <a:xfrm>
                <a:off x="3857620" y="4000504"/>
                <a:ext cx="1397249" cy="139724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400" b="1" dirty="0"/>
              </a:p>
            </p:txBody>
          </p:sp>
        </p:grpSp>
        <p:grpSp>
          <p:nvGrpSpPr>
            <p:cNvPr id="15" name="Group 43"/>
            <p:cNvGrpSpPr>
              <a:grpSpLocks noChangeAspect="1"/>
            </p:cNvGrpSpPr>
            <p:nvPr/>
          </p:nvGrpSpPr>
          <p:grpSpPr>
            <a:xfrm>
              <a:off x="2540409" y="2890548"/>
              <a:ext cx="2861034" cy="2861035"/>
              <a:chOff x="5321405" y="2536718"/>
              <a:chExt cx="2861034" cy="2861035"/>
            </a:xfrm>
          </p:grpSpPr>
          <p:sp>
            <p:nvSpPr>
              <p:cNvPr id="16" name="Rectangle 10"/>
              <p:cNvSpPr/>
              <p:nvPr/>
            </p:nvSpPr>
            <p:spPr>
              <a:xfrm>
                <a:off x="6785190" y="2536718"/>
                <a:ext cx="1397249" cy="139724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400" b="1" dirty="0"/>
                  <a:t>Процессы управления, обработки и </a:t>
                </a:r>
                <a:r>
                  <a:rPr lang="ru-RU" sz="1400" b="1" dirty="0" smtClean="0"/>
                  <a:t>контроля</a:t>
                </a:r>
                <a:endParaRPr lang="ru-RU" sz="1400" b="1" dirty="0"/>
              </a:p>
            </p:txBody>
          </p:sp>
          <p:sp>
            <p:nvSpPr>
              <p:cNvPr id="17" name="Rectangle 12"/>
              <p:cNvSpPr/>
              <p:nvPr/>
            </p:nvSpPr>
            <p:spPr>
              <a:xfrm>
                <a:off x="5321405" y="4000504"/>
                <a:ext cx="1397249" cy="139724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400" b="1" dirty="0"/>
                  <a:t>Прикладное </a:t>
                </a:r>
                <a:r>
                  <a:rPr lang="ru-RU" sz="1400" b="1" dirty="0" smtClean="0"/>
                  <a:t>ПО</a:t>
                </a:r>
                <a:endParaRPr lang="en-US" sz="1400" b="1" dirty="0"/>
              </a:p>
            </p:txBody>
          </p:sp>
          <p:sp>
            <p:nvSpPr>
              <p:cNvPr id="18" name="Rectangle 13"/>
              <p:cNvSpPr/>
              <p:nvPr/>
            </p:nvSpPr>
            <p:spPr>
              <a:xfrm>
                <a:off x="6785190" y="4000504"/>
                <a:ext cx="1397249" cy="139724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400" b="1" dirty="0" smtClean="0"/>
                  <a:t>Документация</a:t>
                </a:r>
                <a:endParaRPr lang="en-US" sz="1400" b="1" dirty="0" smtClean="0"/>
              </a:p>
            </p:txBody>
          </p:sp>
        </p:grpSp>
      </p:grpSp>
      <p:sp>
        <p:nvSpPr>
          <p:cNvPr id="26" name="Заголовок 5"/>
          <p:cNvSpPr>
            <a:spLocks noGrp="1"/>
          </p:cNvSpPr>
          <p:nvPr>
            <p:ph type="title"/>
          </p:nvPr>
        </p:nvSpPr>
        <p:spPr>
          <a:xfrm>
            <a:off x="407368" y="587277"/>
            <a:ext cx="9937749" cy="346167"/>
          </a:xfrm>
        </p:spPr>
        <p:txBody>
          <a:bodyPr>
            <a:noAutofit/>
          </a:bodyPr>
          <a:lstStyle/>
          <a:p>
            <a:r>
              <a:rPr lang="ru-RU" sz="2800" b="1" dirty="0" smtClean="0"/>
              <a:t>ОБЪЕКТЫ ИССЛЕДОВАНИЯ</a:t>
            </a:r>
            <a:endParaRPr lang="ru-RU" sz="28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3448712" y="4993686"/>
            <a:ext cx="183125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350" b="1" dirty="0">
                <a:solidFill>
                  <a:schemeClr val="bg1"/>
                </a:solidFill>
              </a:rPr>
              <a:t>Серверные и пользовательские ОС</a:t>
            </a:r>
          </a:p>
        </p:txBody>
      </p:sp>
    </p:spTree>
    <p:extLst>
      <p:ext uri="{BB962C8B-B14F-4D97-AF65-F5344CB8AC3E}">
        <p14:creationId xmlns:p14="http://schemas.microsoft.com/office/powerpoint/2010/main" val="4120198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36944" y="1916832"/>
            <a:ext cx="11308672" cy="1944216"/>
          </a:xfrm>
        </p:spPr>
        <p:txBody>
          <a:bodyPr>
            <a:normAutofit/>
          </a:bodyPr>
          <a:lstStyle/>
          <a:p>
            <a:r>
              <a:rPr lang="ru-RU" dirty="0" smtClean="0"/>
              <a:t>Пример инцидентов</a:t>
            </a:r>
            <a:endParaRPr lang="ru-RU" sz="7200" dirty="0"/>
          </a:p>
        </p:txBody>
      </p:sp>
    </p:spTree>
    <p:extLst>
      <p:ext uri="{BB962C8B-B14F-4D97-AF65-F5344CB8AC3E}">
        <p14:creationId xmlns:p14="http://schemas.microsoft.com/office/powerpoint/2010/main" val="621874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783581" y="1428477"/>
            <a:ext cx="11145067" cy="3584699"/>
          </a:xfrm>
        </p:spPr>
        <p:txBody>
          <a:bodyPr>
            <a:normAutofit/>
          </a:bodyPr>
          <a:lstStyle/>
          <a:p>
            <a:endParaRPr lang="ru-RU" sz="8000" dirty="0" smtClean="0"/>
          </a:p>
          <a:p>
            <a:r>
              <a:rPr lang="ru-RU" sz="8000" dirty="0" smtClean="0"/>
              <a:t>Кейс. </a:t>
            </a:r>
            <a:r>
              <a:rPr lang="en-US" sz="8000" dirty="0" smtClean="0"/>
              <a:t>Exploit</a:t>
            </a:r>
            <a:r>
              <a:rPr lang="ru-RU" sz="8000" dirty="0" smtClean="0"/>
              <a:t> </a:t>
            </a:r>
            <a:r>
              <a:rPr lang="en-US" sz="8000" dirty="0" smtClean="0"/>
              <a:t>&amp; Shell</a:t>
            </a:r>
            <a:r>
              <a:rPr lang="ru-RU" sz="8000" dirty="0" smtClean="0"/>
              <a:t> 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2218E-4812-B142-AEBD-DA9658E7BE2C}" type="datetime1">
              <a:rPr lang="ru-RU" smtClean="0"/>
              <a:t>20.11.2023</a:t>
            </a:fld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F97D-348D-BF42-95F2-D72FFD6E341D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3598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2218E-4812-B142-AEBD-DA9658E7BE2C}" type="datetime1">
              <a:rPr lang="ru-RU" smtClean="0"/>
              <a:t>20.11.2023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Перспективный мониторинг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F97D-348D-BF42-95F2-D72FFD6E341D}" type="slidenum">
              <a:rPr lang="ru-RU" smtClean="0"/>
              <a:pPr/>
              <a:t>9</a:t>
            </a:fld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003" y="1843727"/>
            <a:ext cx="2128337" cy="304166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3043" y="3084210"/>
            <a:ext cx="1056043" cy="10560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1275" y="2964447"/>
            <a:ext cx="1338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latin typeface="Ubuntu" panose="020B0504030602030204" pitchFamily="34" charset="0"/>
              </a:rPr>
              <a:t>CMS</a:t>
            </a:r>
            <a:endParaRPr lang="ru-RU" sz="2000" b="1" dirty="0">
              <a:latin typeface="Ubuntu" panose="020B050403060203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63403" y="2412716"/>
            <a:ext cx="1338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latin typeface="Ubuntu" panose="020B0504030602030204" pitchFamily="34" charset="0"/>
              </a:rPr>
              <a:t>SQL</a:t>
            </a:r>
            <a:endParaRPr lang="ru-RU" sz="2000" b="1" dirty="0">
              <a:latin typeface="Ubuntu" panose="020B0504030602030204" pitchFamily="34" charset="0"/>
            </a:endParaRPr>
          </a:p>
        </p:txBody>
      </p:sp>
      <p:cxnSp>
        <p:nvCxnSpPr>
          <p:cNvPr id="20" name="Прямая со стрелкой 19"/>
          <p:cNvCxnSpPr/>
          <p:nvPr/>
        </p:nvCxnSpPr>
        <p:spPr>
          <a:xfrm>
            <a:off x="4077223" y="3164502"/>
            <a:ext cx="2236470" cy="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Рисунок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9417" y="3649108"/>
            <a:ext cx="998240" cy="998240"/>
          </a:xfrm>
          <a:prstGeom prst="rect">
            <a:avLst/>
          </a:prstGeom>
        </p:spPr>
      </p:pic>
      <p:sp>
        <p:nvSpPr>
          <p:cNvPr id="26" name="Блок-схема: альтернативный процесс 25"/>
          <p:cNvSpPr/>
          <p:nvPr/>
        </p:nvSpPr>
        <p:spPr>
          <a:xfrm>
            <a:off x="4557004" y="2844148"/>
            <a:ext cx="286119" cy="287565"/>
          </a:xfrm>
          <a:prstGeom prst="flowChartAlternate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</a:p>
        </p:txBody>
      </p:sp>
      <p:cxnSp>
        <p:nvCxnSpPr>
          <p:cNvPr id="31" name="Прямая со стрелкой 30"/>
          <p:cNvCxnSpPr/>
          <p:nvPr/>
        </p:nvCxnSpPr>
        <p:spPr>
          <a:xfrm flipV="1">
            <a:off x="4162720" y="2630657"/>
            <a:ext cx="3200683" cy="16759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Блок-схема: альтернативный процесс 31"/>
          <p:cNvSpPr/>
          <p:nvPr/>
        </p:nvSpPr>
        <p:spPr>
          <a:xfrm>
            <a:off x="5419187" y="2343092"/>
            <a:ext cx="286119" cy="287565"/>
          </a:xfrm>
          <a:prstGeom prst="flowChartAlternate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5" name="Прямоугольник 34"/>
          <p:cNvSpPr/>
          <p:nvPr/>
        </p:nvSpPr>
        <p:spPr>
          <a:xfrm>
            <a:off x="3472803" y="3243457"/>
            <a:ext cx="29442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 smtClean="0">
                <a:latin typeface="Ubuntu" panose="020B0504030602030204" pitchFamily="34" charset="0"/>
              </a:rPr>
              <a:t>Эксплуатация, загрузка </a:t>
            </a:r>
            <a:r>
              <a:rPr lang="en-US" sz="1400" dirty="0" smtClean="0">
                <a:latin typeface="Ubuntu" panose="020B0504030602030204" pitchFamily="34" charset="0"/>
              </a:rPr>
              <a:t>web shell</a:t>
            </a:r>
            <a:endParaRPr lang="ru-RU" sz="1400" dirty="0"/>
          </a:p>
        </p:txBody>
      </p:sp>
      <p:sp>
        <p:nvSpPr>
          <p:cNvPr id="36" name="Прямоугольник 35"/>
          <p:cNvSpPr/>
          <p:nvPr/>
        </p:nvSpPr>
        <p:spPr>
          <a:xfrm>
            <a:off x="5783740" y="2354169"/>
            <a:ext cx="1059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Ubuntu" panose="020B0504030602030204" pitchFamily="34" charset="0"/>
              </a:rPr>
              <a:t>Brute force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716406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2" grpId="0" animBg="1"/>
      <p:bldP spid="35" grpId="0"/>
      <p:bldP spid="3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Облако 20"/>
          <p:cNvSpPr/>
          <p:nvPr/>
        </p:nvSpPr>
        <p:spPr>
          <a:xfrm>
            <a:off x="4223792" y="260648"/>
            <a:ext cx="3672408" cy="1795288"/>
          </a:xfrm>
          <a:prstGeom prst="cloud">
            <a:avLst/>
          </a:prstGeom>
          <a:ln w="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2218E-4812-B142-AEBD-DA9658E7BE2C}" type="datetime1">
              <a:rPr lang="ru-RU" smtClean="0"/>
              <a:t>20.11.2023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Перспективный мониторинг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F97D-348D-BF42-95F2-D72FFD6E341D}" type="slidenum">
              <a:rPr lang="ru-RU" smtClean="0"/>
              <a:pPr/>
              <a:t>10</a:t>
            </a:fld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60" y="3365906"/>
            <a:ext cx="1082220" cy="1546628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4713" y="3365906"/>
            <a:ext cx="1056043" cy="105604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09880" y="4421949"/>
            <a:ext cx="13380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Ubuntu" panose="020B0504030602030204" pitchFamily="34" charset="0"/>
              </a:rPr>
              <a:t>Сервер взломан</a:t>
            </a:r>
            <a:endParaRPr lang="ru-RU" sz="2000" dirty="0">
              <a:latin typeface="Ubuntu" panose="020B0504030602030204" pitchFamily="34" charset="0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142" y="533484"/>
            <a:ext cx="2423789" cy="8756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67251" y="1231010"/>
            <a:ext cx="26642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 smtClean="0">
                <a:latin typeface="Ubuntu" panose="020B0504030602030204" pitchFamily="34" charset="0"/>
              </a:rPr>
              <a:t>С</a:t>
            </a:r>
            <a:r>
              <a:rPr lang="en-US" sz="1600" dirty="0" smtClean="0">
                <a:latin typeface="Ubuntu" panose="020B0504030602030204" pitchFamily="34" charset="0"/>
              </a:rPr>
              <a:t>&amp;C </a:t>
            </a:r>
            <a:r>
              <a:rPr lang="ru-RU" sz="1600" dirty="0" smtClean="0">
                <a:latin typeface="Ubuntu" panose="020B0504030602030204" pitchFamily="34" charset="0"/>
              </a:rPr>
              <a:t>сервера </a:t>
            </a:r>
            <a:r>
              <a:rPr lang="ru-RU" sz="1600" dirty="0" err="1" smtClean="0">
                <a:latin typeface="Ubuntu" panose="020B0504030602030204" pitchFamily="34" charset="0"/>
              </a:rPr>
              <a:t>ботнет</a:t>
            </a:r>
            <a:endParaRPr lang="ru-RU" sz="1600" dirty="0">
              <a:latin typeface="Ubuntu" panose="020B0504030602030204" pitchFamily="34" charset="0"/>
            </a:endParaRP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6354" y="3828869"/>
            <a:ext cx="603440" cy="603440"/>
          </a:xfrm>
          <a:prstGeom prst="rect">
            <a:avLst/>
          </a:prstGeom>
        </p:spPr>
      </p:pic>
      <p:sp>
        <p:nvSpPr>
          <p:cNvPr id="25" name="Блок-схема: альтернативный процесс 24"/>
          <p:cNvSpPr/>
          <p:nvPr/>
        </p:nvSpPr>
        <p:spPr>
          <a:xfrm>
            <a:off x="5087888" y="2707322"/>
            <a:ext cx="286119" cy="287565"/>
          </a:xfrm>
          <a:prstGeom prst="flowChartAlternate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</a:t>
            </a:r>
            <a:endParaRPr lang="ru-RU" dirty="0"/>
          </a:p>
        </p:txBody>
      </p:sp>
      <p:sp>
        <p:nvSpPr>
          <p:cNvPr id="26" name="Прямоугольник 25"/>
          <p:cNvSpPr/>
          <p:nvPr/>
        </p:nvSpPr>
        <p:spPr>
          <a:xfrm>
            <a:off x="5374007" y="2689175"/>
            <a:ext cx="127169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 smtClean="0"/>
              <a:t>Задание, цель</a:t>
            </a:r>
            <a:endParaRPr lang="ru-RU" sz="1400" dirty="0"/>
          </a:p>
        </p:txBody>
      </p:sp>
      <p:cxnSp>
        <p:nvCxnSpPr>
          <p:cNvPr id="27" name="Прямая со стрелкой 26"/>
          <p:cNvCxnSpPr/>
          <p:nvPr/>
        </p:nvCxnSpPr>
        <p:spPr>
          <a:xfrm flipV="1">
            <a:off x="1685220" y="4509119"/>
            <a:ext cx="1852705" cy="1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Блок-схема: альтернативный процесс 28"/>
          <p:cNvSpPr/>
          <p:nvPr/>
        </p:nvSpPr>
        <p:spPr>
          <a:xfrm>
            <a:off x="1703512" y="4146276"/>
            <a:ext cx="286119" cy="287565"/>
          </a:xfrm>
          <a:prstGeom prst="flowChartAlternate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endParaRPr lang="ru-RU" dirty="0"/>
          </a:p>
        </p:txBody>
      </p:sp>
      <p:cxnSp>
        <p:nvCxnSpPr>
          <p:cNvPr id="30" name="Прямая со стрелкой 29"/>
          <p:cNvCxnSpPr/>
          <p:nvPr/>
        </p:nvCxnSpPr>
        <p:spPr>
          <a:xfrm>
            <a:off x="1693018" y="3861049"/>
            <a:ext cx="2332657" cy="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Блок-схема: альтернативный процесс 30"/>
          <p:cNvSpPr/>
          <p:nvPr/>
        </p:nvSpPr>
        <p:spPr>
          <a:xfrm>
            <a:off x="1847528" y="3536300"/>
            <a:ext cx="286119" cy="287565"/>
          </a:xfrm>
          <a:prstGeom prst="flowChartAlternate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ru-RU" dirty="0"/>
          </a:p>
        </p:txBody>
      </p:sp>
      <p:sp>
        <p:nvSpPr>
          <p:cNvPr id="32" name="Прямоугольник 31"/>
          <p:cNvSpPr/>
          <p:nvPr/>
        </p:nvSpPr>
        <p:spPr>
          <a:xfrm>
            <a:off x="1966187" y="4146276"/>
            <a:ext cx="51328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 smtClean="0"/>
              <a:t>ВПО</a:t>
            </a:r>
            <a:endParaRPr lang="ru-RU" sz="1400" dirty="0"/>
          </a:p>
        </p:txBody>
      </p:sp>
      <p:sp>
        <p:nvSpPr>
          <p:cNvPr id="33" name="Прямоугольник 32"/>
          <p:cNvSpPr/>
          <p:nvPr/>
        </p:nvSpPr>
        <p:spPr>
          <a:xfrm>
            <a:off x="2172006" y="3501008"/>
            <a:ext cx="17421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 smtClean="0"/>
              <a:t>Подключил к </a:t>
            </a:r>
            <a:r>
              <a:rPr lang="ru-RU" sz="1400" dirty="0" err="1" smtClean="0"/>
              <a:t>ботнет</a:t>
            </a:r>
            <a:endParaRPr lang="ru-RU" sz="1400" dirty="0"/>
          </a:p>
        </p:txBody>
      </p:sp>
      <p:cxnSp>
        <p:nvCxnSpPr>
          <p:cNvPr id="36" name="Прямая со стрелкой 35"/>
          <p:cNvCxnSpPr/>
          <p:nvPr/>
        </p:nvCxnSpPr>
        <p:spPr>
          <a:xfrm flipH="1">
            <a:off x="4778904" y="2021260"/>
            <a:ext cx="500890" cy="119171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/>
          <p:nvPr/>
        </p:nvCxnSpPr>
        <p:spPr>
          <a:xfrm flipV="1">
            <a:off x="5391319" y="2899514"/>
            <a:ext cx="3296969" cy="961535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/>
          <p:cNvCxnSpPr/>
          <p:nvPr/>
        </p:nvCxnSpPr>
        <p:spPr>
          <a:xfrm flipV="1">
            <a:off x="5386558" y="3590032"/>
            <a:ext cx="3314281" cy="45324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/>
          <p:cNvCxnSpPr/>
          <p:nvPr/>
        </p:nvCxnSpPr>
        <p:spPr>
          <a:xfrm flipV="1">
            <a:off x="5393576" y="4203196"/>
            <a:ext cx="3324575" cy="58837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/>
          <p:cNvCxnSpPr/>
          <p:nvPr/>
        </p:nvCxnSpPr>
        <p:spPr>
          <a:xfrm>
            <a:off x="5386558" y="4580986"/>
            <a:ext cx="3301730" cy="241947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Прямоугольник 46"/>
          <p:cNvSpPr/>
          <p:nvPr/>
        </p:nvSpPr>
        <p:spPr>
          <a:xfrm>
            <a:off x="9001964" y="3994152"/>
            <a:ext cx="1760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warrelwater.com</a:t>
            </a:r>
            <a:endParaRPr lang="ru-RU" dirty="0"/>
          </a:p>
        </p:txBody>
      </p:sp>
      <p:sp>
        <p:nvSpPr>
          <p:cNvPr id="48" name="Прямоугольник 47"/>
          <p:cNvSpPr/>
          <p:nvPr/>
        </p:nvSpPr>
        <p:spPr>
          <a:xfrm>
            <a:off x="8982453" y="3380281"/>
            <a:ext cx="1697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fukutsu-parks.jp</a:t>
            </a:r>
            <a:endParaRPr lang="ru-RU" dirty="0"/>
          </a:p>
        </p:txBody>
      </p:sp>
      <p:sp>
        <p:nvSpPr>
          <p:cNvPr id="50" name="Прямоугольник 49"/>
          <p:cNvSpPr/>
          <p:nvPr/>
        </p:nvSpPr>
        <p:spPr>
          <a:xfrm>
            <a:off x="8957380" y="2643897"/>
            <a:ext cx="16907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azbukamama.ru</a:t>
            </a:r>
            <a:endParaRPr lang="ru-RU" dirty="0"/>
          </a:p>
        </p:txBody>
      </p:sp>
      <p:sp>
        <p:nvSpPr>
          <p:cNvPr id="51" name="Прямоугольник 50"/>
          <p:cNvSpPr/>
          <p:nvPr/>
        </p:nvSpPr>
        <p:spPr>
          <a:xfrm>
            <a:off x="9001964" y="4701959"/>
            <a:ext cx="211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и др. </a:t>
            </a:r>
            <a:r>
              <a:rPr lang="en-US" dirty="0" smtClean="0"/>
              <a:t>74</a:t>
            </a:r>
            <a:r>
              <a:rPr lang="ru-RU" dirty="0" smtClean="0"/>
              <a:t> получателя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3079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17" grpId="0"/>
      <p:bldP spid="25" grpId="0" animBg="1"/>
      <p:bldP spid="26" grpId="0"/>
      <p:bldP spid="29" grpId="0" animBg="1"/>
      <p:bldP spid="31" grpId="0" animBg="1"/>
      <p:bldP spid="32" grpId="0"/>
      <p:bldP spid="33" grpId="0"/>
      <p:bldP spid="47" grpId="0"/>
      <p:bldP spid="48" grpId="0"/>
      <p:bldP spid="50" grpId="0"/>
      <p:bldP spid="5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42207-6ED5-9C4F-AB8D-A37283E9469C}" type="datetime1">
              <a:rPr lang="ru-RU" smtClean="0"/>
              <a:t>20.11.2023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Перспективный мониторинг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F97D-348D-BF42-95F2-D72FFD6E341D}" type="slidenum">
              <a:rPr lang="ru-RU" smtClean="0"/>
              <a:t>11</a:t>
            </a:fld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>
            <a:grayscl/>
            <a:extLst/>
          </a:blip>
          <a:srcRect r="979"/>
          <a:stretch/>
        </p:blipFill>
        <p:spPr>
          <a:xfrm>
            <a:off x="1631504" y="1167444"/>
            <a:ext cx="8928992" cy="5213884"/>
          </a:xfrm>
          <a:prstGeom prst="rect">
            <a:avLst/>
          </a:prstGeom>
        </p:spPr>
      </p:pic>
      <p:sp>
        <p:nvSpPr>
          <p:cNvPr id="7" name="Овал 6"/>
          <p:cNvSpPr/>
          <p:nvPr/>
        </p:nvSpPr>
        <p:spPr>
          <a:xfrm>
            <a:off x="8858250" y="2529297"/>
            <a:ext cx="1414214" cy="432048"/>
          </a:xfrm>
          <a:prstGeom prst="ellipse">
            <a:avLst/>
          </a:prstGeom>
          <a:noFill/>
          <a:ln w="57150">
            <a:solidFill>
              <a:srgbClr val="D920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191344" y="152636"/>
            <a:ext cx="11809312" cy="6552728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1540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2218E-4812-B142-AEBD-DA9658E7BE2C}" type="datetime1">
              <a:rPr lang="ru-RU" smtClean="0"/>
              <a:t>20.11.2023</a:t>
            </a:fld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F97D-348D-BF42-95F2-D72FFD6E341D}" type="slidenum">
              <a:rPr lang="ru-RU" smtClean="0"/>
              <a:pPr/>
              <a:t>12</a:t>
            </a:fld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52" y="116632"/>
            <a:ext cx="8136904" cy="4284203"/>
          </a:xfrm>
          <a:prstGeom prst="rect">
            <a:avLst/>
          </a:prstGeom>
        </p:spPr>
      </p:pic>
      <p:pic>
        <p:nvPicPr>
          <p:cNvPr id="24" name="Рисунок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776" y="4763560"/>
            <a:ext cx="7610475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828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2218E-4812-B142-AEBD-DA9658E7BE2C}" type="datetime1">
              <a:rPr lang="ru-RU" smtClean="0"/>
              <a:t>20.11.2023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Перспективный мониторинг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F97D-348D-BF42-95F2-D72FFD6E341D}" type="slidenum">
              <a:rPr lang="ru-RU" smtClean="0"/>
              <a:pPr/>
              <a:t>13</a:t>
            </a:fld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338" y="14287"/>
            <a:ext cx="12258675" cy="6829425"/>
          </a:xfrm>
          <a:prstGeom prst="rect">
            <a:avLst/>
          </a:prstGeom>
        </p:spPr>
      </p:pic>
      <p:sp>
        <p:nvSpPr>
          <p:cNvPr id="12" name="Овал 11"/>
          <p:cNvSpPr/>
          <p:nvPr/>
        </p:nvSpPr>
        <p:spPr>
          <a:xfrm>
            <a:off x="4007768" y="1052736"/>
            <a:ext cx="504056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/>
          <p:cNvSpPr/>
          <p:nvPr/>
        </p:nvSpPr>
        <p:spPr>
          <a:xfrm>
            <a:off x="7536160" y="1027237"/>
            <a:ext cx="792088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326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2218E-4812-B142-AEBD-DA9658E7BE2C}" type="datetime1">
              <a:rPr lang="ru-RU" smtClean="0"/>
              <a:t>20.11.2023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Перспективный мониторинг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F97D-348D-BF42-95F2-D72FFD6E341D}" type="slidenum">
              <a:rPr lang="ru-RU" smtClean="0"/>
              <a:pPr/>
              <a:t>14</a:t>
            </a:fld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56" y="2964904"/>
            <a:ext cx="4610100" cy="3200400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378044" y="2892896"/>
            <a:ext cx="720080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3754308" y="2892896"/>
            <a:ext cx="720080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" name="Прямая со стрелкой 11"/>
          <p:cNvCxnSpPr>
            <a:stCxn id="9" idx="0"/>
          </p:cNvCxnSpPr>
          <p:nvPr/>
        </p:nvCxnSpPr>
        <p:spPr>
          <a:xfrm flipV="1">
            <a:off x="1738084" y="2532856"/>
            <a:ext cx="0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004" y="2091516"/>
            <a:ext cx="2755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18.236.221.52</a:t>
            </a:r>
            <a:r>
              <a:rPr lang="ru-RU" dirty="0" smtClean="0"/>
              <a:t> атакующего</a:t>
            </a:r>
            <a:endParaRPr lang="ru-RU" dirty="0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 rotWithShape="1">
          <a:blip r:embed="rId4"/>
          <a:srcRect l="3251" r="4653"/>
          <a:stretch/>
        </p:blipFill>
        <p:spPr>
          <a:xfrm>
            <a:off x="5879976" y="2964904"/>
            <a:ext cx="6120680" cy="3088184"/>
          </a:xfrm>
          <a:prstGeom prst="rect">
            <a:avLst/>
          </a:prstGeom>
        </p:spPr>
      </p:pic>
      <p:sp>
        <p:nvSpPr>
          <p:cNvPr id="18" name="Стрелка вправо 17"/>
          <p:cNvSpPr/>
          <p:nvPr/>
        </p:nvSpPr>
        <p:spPr>
          <a:xfrm>
            <a:off x="4871864" y="4333056"/>
            <a:ext cx="792088" cy="8640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7562823" y="2521517"/>
            <a:ext cx="2754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 </a:t>
            </a:r>
            <a:r>
              <a:rPr lang="en-US" dirty="0" smtClean="0"/>
              <a:t>Virus</a:t>
            </a:r>
            <a:r>
              <a:rPr lang="ru-RU" dirty="0" smtClean="0"/>
              <a:t> </a:t>
            </a:r>
            <a:r>
              <a:rPr lang="en-US" dirty="0" smtClean="0"/>
              <a:t>Total </a:t>
            </a:r>
            <a:r>
              <a:rPr lang="ru-RU" dirty="0" smtClean="0"/>
              <a:t>(18.236.221.52)</a:t>
            </a:r>
            <a:endParaRPr lang="ru-RU" dirty="0"/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 rotWithShape="1">
          <a:blip r:embed="rId5"/>
          <a:srcRect t="11528" b="20310"/>
          <a:stretch/>
        </p:blipFill>
        <p:spPr>
          <a:xfrm>
            <a:off x="123641" y="404664"/>
            <a:ext cx="11791950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899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2218E-4812-B142-AEBD-DA9658E7BE2C}" type="datetime1">
              <a:rPr lang="ru-RU" smtClean="0"/>
              <a:t>20.11.2023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Перспективный мониторинг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F97D-348D-BF42-95F2-D72FFD6E341D}" type="slidenum">
              <a:rPr lang="ru-RU" smtClean="0"/>
              <a:pPr/>
              <a:t>15</a:t>
            </a:fld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76" y="188640"/>
            <a:ext cx="6624736" cy="4785285"/>
          </a:xfrm>
          <a:prstGeom prst="rect">
            <a:avLst/>
          </a:prstGeom>
        </p:spPr>
      </p:pic>
      <p:sp>
        <p:nvSpPr>
          <p:cNvPr id="9" name="Овал 8"/>
          <p:cNvSpPr/>
          <p:nvPr/>
        </p:nvSpPr>
        <p:spPr>
          <a:xfrm>
            <a:off x="695400" y="4461903"/>
            <a:ext cx="2160240" cy="5760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464" y="5517232"/>
            <a:ext cx="10620375" cy="704850"/>
          </a:xfrm>
          <a:prstGeom prst="rect">
            <a:avLst/>
          </a:prstGeom>
        </p:spPr>
      </p:pic>
      <p:sp>
        <p:nvSpPr>
          <p:cNvPr id="11" name="Овал 10"/>
          <p:cNvSpPr/>
          <p:nvPr/>
        </p:nvSpPr>
        <p:spPr>
          <a:xfrm>
            <a:off x="2495600" y="5564862"/>
            <a:ext cx="2160240" cy="5760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8168" y="4077893"/>
            <a:ext cx="4069773" cy="120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547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772815"/>
            <a:ext cx="3200400" cy="1107543"/>
          </a:xfrm>
        </p:spPr>
        <p:txBody>
          <a:bodyPr/>
          <a:lstStyle/>
          <a:p>
            <a:pPr fontAlgn="t"/>
            <a:r>
              <a:rPr lang="ru-RU" dirty="0"/>
              <a:t>Спасибо за внимание!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CC762-3D3A-2C40-8548-4145E24801A5}" type="datetime1">
              <a:rPr lang="ru-RU" smtClean="0"/>
              <a:pPr/>
              <a:t>20.11.2023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Перспективный мониторинг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F97D-348D-BF42-95F2-D72FFD6E341D}" type="slidenum">
              <a:rPr lang="ru-RU" smtClean="0"/>
              <a:pPr/>
              <a:t>16</a:t>
            </a:fld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ru-RU" sz="3200" b="1" dirty="0" smtClean="0"/>
          </a:p>
          <a:p>
            <a:pPr>
              <a:lnSpc>
                <a:spcPct val="150000"/>
              </a:lnSpc>
            </a:pPr>
            <a:r>
              <a:rPr lang="ru-RU" sz="3200" b="1" dirty="0" smtClean="0"/>
              <a:t>Кувшинов Максим</a:t>
            </a:r>
          </a:p>
          <a:p>
            <a:r>
              <a:rPr lang="ru-RU" dirty="0" smtClean="0"/>
              <a:t>«Перспективный мониторинг»</a:t>
            </a:r>
          </a:p>
          <a:p>
            <a:r>
              <a:rPr lang="en-US" dirty="0" smtClean="0"/>
              <a:t>Maksim.Kuvshinov@amonitoring.ru</a:t>
            </a:r>
          </a:p>
          <a:p>
            <a:r>
              <a:rPr lang="ru-RU" dirty="0" smtClean="0"/>
              <a:t>г. Новосибирск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7712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Ретроспектива">
  <a:themeElements>
    <a:clrScheme name="Цвет 1">
      <a:dk1>
        <a:srgbClr val="000000"/>
      </a:dk1>
      <a:lt1>
        <a:srgbClr val="FFFFFF"/>
      </a:lt1>
      <a:dk2>
        <a:srgbClr val="F6891F"/>
      </a:dk2>
      <a:lt2>
        <a:srgbClr val="D9D9D9"/>
      </a:lt2>
      <a:accent1>
        <a:srgbClr val="F18500"/>
      </a:accent1>
      <a:accent2>
        <a:srgbClr val="1C75BC"/>
      </a:accent2>
      <a:accent3>
        <a:srgbClr val="9E1F63"/>
      </a:accent3>
      <a:accent4>
        <a:srgbClr val="008500"/>
      </a:accent4>
      <a:accent5>
        <a:srgbClr val="134974"/>
      </a:accent5>
      <a:accent6>
        <a:srgbClr val="6F1444"/>
      </a:accent6>
      <a:hlink>
        <a:srgbClr val="1C75BC"/>
      </a:hlink>
      <a:folHlink>
        <a:srgbClr val="8C8C8C"/>
      </a:folHlink>
    </a:clrScheme>
    <a:fontScheme name="ПМ">
      <a:majorFont>
        <a:latin typeface="Ubuntu"/>
        <a:ea typeface=""/>
        <a:cs typeface=""/>
      </a:majorFont>
      <a:minorFont>
        <a:latin typeface="Ubuntu"/>
        <a:ea typeface=""/>
        <a:cs typeface=""/>
      </a:minorFont>
    </a:fontScheme>
    <a:fmtScheme name="Ретроспектива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D95A12269C2C94428F7D050D56687803" ma:contentTypeVersion="0" ma:contentTypeDescription="Создание документа." ma:contentTypeScope="" ma:versionID="44f2fe757924f110a76d1dc7e4b9de6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68945f29d20f6c8168914e82075cc0d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0120C42-7A18-430F-9F3A-3EE25CA1D2B8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888D5D0-9035-4A3F-89A3-74A42E329224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29E6D8C-F9AE-4CE0-90E5-6936EBB2306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334</Words>
  <Application>Microsoft Office PowerPoint</Application>
  <PresentationFormat>Широкоэкранный</PresentationFormat>
  <Paragraphs>140</Paragraphs>
  <Slides>16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Calibri</vt:lpstr>
      <vt:lpstr>Ubuntu</vt:lpstr>
      <vt:lpstr>Ретроспектива</vt:lpstr>
      <vt:lpstr>Путь начинающего специалиста</vt:lpstr>
      <vt:lpstr>Где меня ждут?</vt:lpstr>
      <vt:lpstr>Открытые вакансии</vt:lpstr>
      <vt:lpstr>Что будут спрашивать на собеседование? </vt:lpstr>
      <vt:lpstr>Презентация PowerPoint</vt:lpstr>
      <vt:lpstr>ОБЪЕКТЫ ИССЛЕДОВАНИЯ</vt:lpstr>
      <vt:lpstr>Пример инцидентов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Vasilyev Aleksey</dc:creator>
  <cp:lastModifiedBy>Kuvshinov Maksim</cp:lastModifiedBy>
  <cp:revision>794</cp:revision>
  <dcterms:created xsi:type="dcterms:W3CDTF">2017-02-02T21:21:59Z</dcterms:created>
  <dcterms:modified xsi:type="dcterms:W3CDTF">2023-11-20T07:52:27Z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0x010100D95A12269C2C94428F7D050D56687803</vt:lpwstr>
  </property>
</Properties>
</file>